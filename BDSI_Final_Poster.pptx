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omments/modernComment_100_862F6096.xml" ContentType="application/vnd.ms-powerpoint.comments+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
  </p:notesMasterIdLst>
  <p:sldIdLst>
    <p:sldId id="256" r:id="rId2"/>
  </p:sldIdLst>
  <p:sldSz cx="43891200" cy="32918400"/>
  <p:notesSz cx="7315200" cy="9601200"/>
  <p:defaultTextStyle>
    <a:defPPr>
      <a:defRPr lang="en-US"/>
    </a:defPPr>
    <a:lvl1pPr marL="0" algn="l" defTabSz="3291279" rtl="0" eaLnBrk="1" latinLnBrk="0" hangingPunct="1">
      <a:defRPr sz="6400" kern="1200">
        <a:solidFill>
          <a:schemeClr val="tx1"/>
        </a:solidFill>
        <a:latin typeface="+mn-lt"/>
        <a:ea typeface="+mn-ea"/>
        <a:cs typeface="+mn-cs"/>
      </a:defRPr>
    </a:lvl1pPr>
    <a:lvl2pPr marL="1645640" algn="l" defTabSz="3291279" rtl="0" eaLnBrk="1" latinLnBrk="0" hangingPunct="1">
      <a:defRPr sz="6400" kern="1200">
        <a:solidFill>
          <a:schemeClr val="tx1"/>
        </a:solidFill>
        <a:latin typeface="+mn-lt"/>
        <a:ea typeface="+mn-ea"/>
        <a:cs typeface="+mn-cs"/>
      </a:defRPr>
    </a:lvl2pPr>
    <a:lvl3pPr marL="3291279" algn="l" defTabSz="3291279" rtl="0" eaLnBrk="1" latinLnBrk="0" hangingPunct="1">
      <a:defRPr sz="6400" kern="1200">
        <a:solidFill>
          <a:schemeClr val="tx1"/>
        </a:solidFill>
        <a:latin typeface="+mn-lt"/>
        <a:ea typeface="+mn-ea"/>
        <a:cs typeface="+mn-cs"/>
      </a:defRPr>
    </a:lvl3pPr>
    <a:lvl4pPr marL="4936919" algn="l" defTabSz="3291279" rtl="0" eaLnBrk="1" latinLnBrk="0" hangingPunct="1">
      <a:defRPr sz="6400" kern="1200">
        <a:solidFill>
          <a:schemeClr val="tx1"/>
        </a:solidFill>
        <a:latin typeface="+mn-lt"/>
        <a:ea typeface="+mn-ea"/>
        <a:cs typeface="+mn-cs"/>
      </a:defRPr>
    </a:lvl4pPr>
    <a:lvl5pPr marL="6582559" algn="l" defTabSz="3291279" rtl="0" eaLnBrk="1" latinLnBrk="0" hangingPunct="1">
      <a:defRPr sz="6400" kern="1200">
        <a:solidFill>
          <a:schemeClr val="tx1"/>
        </a:solidFill>
        <a:latin typeface="+mn-lt"/>
        <a:ea typeface="+mn-ea"/>
        <a:cs typeface="+mn-cs"/>
      </a:defRPr>
    </a:lvl5pPr>
    <a:lvl6pPr marL="8228198" algn="l" defTabSz="3291279" rtl="0" eaLnBrk="1" latinLnBrk="0" hangingPunct="1">
      <a:defRPr sz="6400" kern="1200">
        <a:solidFill>
          <a:schemeClr val="tx1"/>
        </a:solidFill>
        <a:latin typeface="+mn-lt"/>
        <a:ea typeface="+mn-ea"/>
        <a:cs typeface="+mn-cs"/>
      </a:defRPr>
    </a:lvl6pPr>
    <a:lvl7pPr marL="9873837" algn="l" defTabSz="3291279" rtl="0" eaLnBrk="1" latinLnBrk="0" hangingPunct="1">
      <a:defRPr sz="6400" kern="1200">
        <a:solidFill>
          <a:schemeClr val="tx1"/>
        </a:solidFill>
        <a:latin typeface="+mn-lt"/>
        <a:ea typeface="+mn-ea"/>
        <a:cs typeface="+mn-cs"/>
      </a:defRPr>
    </a:lvl7pPr>
    <a:lvl8pPr marL="11519478" algn="l" defTabSz="3291279" rtl="0" eaLnBrk="1" latinLnBrk="0" hangingPunct="1">
      <a:defRPr sz="6400" kern="1200">
        <a:solidFill>
          <a:schemeClr val="tx1"/>
        </a:solidFill>
        <a:latin typeface="+mn-lt"/>
        <a:ea typeface="+mn-ea"/>
        <a:cs typeface="+mn-cs"/>
      </a:defRPr>
    </a:lvl8pPr>
    <a:lvl9pPr marL="13165118" algn="l" defTabSz="3291279" rtl="0" eaLnBrk="1" latinLnBrk="0" hangingPunct="1">
      <a:defRPr sz="6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0320" userDrawn="1">
          <p15:clr>
            <a:srgbClr val="A4A3A4"/>
          </p15:clr>
        </p15:guide>
        <p15:guide id="2" pos="13824" userDrawn="1">
          <p15:clr>
            <a:srgbClr val="A4A3A4"/>
          </p15:clr>
        </p15:guide>
        <p15:guide id="3" pos="432" userDrawn="1">
          <p15:clr>
            <a:srgbClr val="A4A3A4"/>
          </p15:clr>
        </p15:guide>
        <p15:guide id="4" pos="27216" userDrawn="1">
          <p15:clr>
            <a:srgbClr val="A4A3A4"/>
          </p15:clr>
        </p15:guide>
        <p15:guide id="6" orient="horz" pos="336" userDrawn="1">
          <p15:clr>
            <a:srgbClr val="A4A3A4"/>
          </p15:clr>
        </p15:guide>
        <p15:guide id="8" orient="horz" pos="20448" userDrawn="1">
          <p15:clr>
            <a:srgbClr val="A4A3A4"/>
          </p15:clr>
        </p15:guide>
        <p15:guide id="9" pos="10800" userDrawn="1">
          <p15:clr>
            <a:srgbClr val="A4A3A4"/>
          </p15:clr>
        </p15:guide>
        <p15:guide id="10" pos="16464" userDrawn="1">
          <p15:clr>
            <a:srgbClr val="A4A3A4"/>
          </p15:clr>
        </p15:guide>
        <p15:guide id="11" pos="18432"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31DE881-08A4-86AD-78BD-337E7A6E2842}" name="Hung, Cassandra" initials="" userId="S::hungck@umich.edu::47df1674-b658-4766-90ea-e4d4de35eecb" providerId="AD"/>
  <p188:author id="{76B19C95-9B56-E5F4-5090-190D508EF077}" name="Craiu, Clara" initials="" userId="S::ccraiu@umich.edu::01d7856f-9fdc-4a7f-aafa-e26cb4ee6241"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299FF"/>
    <a:srgbClr val="00DCE2"/>
    <a:srgbClr val="FF9289"/>
    <a:srgbClr val="96CA01"/>
    <a:srgbClr val="00DBE1"/>
    <a:srgbClr val="FFFFFF"/>
    <a:srgbClr val="024794"/>
    <a:srgbClr val="00409E"/>
    <a:srgbClr val="7F7F7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D9F0371-6427-ED4A-9C35-B17F0F713983}" v="1" dt="2024-07-26T14:13:46.693"/>
  </p1510:revLst>
</p1510:revInfo>
</file>

<file path=ppt/tableStyles.xml><?xml version="1.0" encoding="utf-8"?>
<a:tblStyleLst xmlns:a="http://schemas.openxmlformats.org/drawingml/2006/main" def="{5C22544A-7EE6-4342-B048-85BDC9FD1C3A}">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94700"/>
  </p:normalViewPr>
  <p:slideViewPr>
    <p:cSldViewPr snapToGrid="0">
      <p:cViewPr varScale="1">
        <p:scale>
          <a:sx n="22" d="100"/>
          <a:sy n="22" d="100"/>
        </p:scale>
        <p:origin x="1576" y="304"/>
      </p:cViewPr>
      <p:guideLst>
        <p:guide orient="horz" pos="10320"/>
        <p:guide pos="13824"/>
        <p:guide pos="432"/>
        <p:guide pos="27216"/>
        <p:guide orient="horz" pos="336"/>
        <p:guide orient="horz" pos="20448"/>
        <p:guide pos="10800"/>
        <p:guide pos="16464"/>
        <p:guide pos="1843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microsoft.com/office/2015/10/relationships/revisionInfo" Target="revisionInfo.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 Id="rId9" Type="http://schemas.microsoft.com/office/2018/10/relationships/authors" Target="authors.xml"/></Relationships>
</file>

<file path=ppt/comments/modernComment_100_862F6096.xml><?xml version="1.0" encoding="utf-8"?>
<p188:cmLst xmlns:a="http://schemas.openxmlformats.org/drawingml/2006/main" xmlns:r="http://schemas.openxmlformats.org/officeDocument/2006/relationships" xmlns:p188="http://schemas.microsoft.com/office/powerpoint/2018/8/main">
  <p188:cm id="{B34AAF01-ED49-A74F-BCA4-82E744116762}" authorId="{E31DE881-08A4-86AD-78BD-337E7A6E2842}" status="resolved" created="2024-07-22T17:59:53.588" complete="100000">
    <ac:deMkLst xmlns:ac="http://schemas.microsoft.com/office/drawing/2013/main/command">
      <pc:docMk xmlns:pc="http://schemas.microsoft.com/office/powerpoint/2013/main/command"/>
      <pc:sldMk xmlns:pc="http://schemas.microsoft.com/office/powerpoint/2013/main/command" cId="2251251862" sldId="256"/>
      <ac:grpSpMk id="15" creationId="{0767326E-3715-6A26-8BD2-D2AA53B3CFD8}"/>
    </ac:deMkLst>
    <p188:replyLst/>
    <p188:txBody>
      <a:bodyPr/>
      <a:lstStyle/>
      <a:p>
        <a:r>
          <a:rPr lang="en-US"/>
          <a:t>Update heatmap with presentation</a:t>
        </a:r>
      </a:p>
    </p188:txBody>
  </p188:cm>
  <p188:cm id="{D68C9B98-F24B-6842-93F2-68ADEEAAEC43}" authorId="{E31DE881-08A4-86AD-78BD-337E7A6E2842}" status="resolved" created="2024-07-22T18:01:24.726" complete="100000">
    <ac:deMkLst xmlns:ac="http://schemas.microsoft.com/office/drawing/2013/main/command">
      <pc:docMk xmlns:pc="http://schemas.microsoft.com/office/powerpoint/2013/main/command"/>
      <pc:sldMk xmlns:pc="http://schemas.microsoft.com/office/powerpoint/2013/main/command" cId="2251251862" sldId="256"/>
      <ac:spMk id="61" creationId="{00000000-0000-0000-0000-000000000000}"/>
    </ac:deMkLst>
    <p188:txBody>
      <a:bodyPr/>
      <a:lstStyle/>
      <a:p>
        <a:r>
          <a:rPr lang="en-US"/>
          <a:t>Maybe just a couple bullet point abotu what features we used instead</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70238" cy="481013"/>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4143375" y="0"/>
            <a:ext cx="3170238" cy="481013"/>
          </a:xfrm>
          <a:prstGeom prst="rect">
            <a:avLst/>
          </a:prstGeom>
        </p:spPr>
        <p:txBody>
          <a:bodyPr vert="horz" lIns="91440" tIns="45720" rIns="91440" bIns="45720" rtlCol="0"/>
          <a:lstStyle>
            <a:lvl1pPr algn="r">
              <a:defRPr sz="1200"/>
            </a:lvl1pPr>
          </a:lstStyle>
          <a:p>
            <a:fld id="{EEB9C7D0-D055-42CF-BE1F-4201EE8C5D03}" type="datetimeFigureOut">
              <a:rPr lang="en-CA" smtClean="0"/>
              <a:t>2024-07-26</a:t>
            </a:fld>
            <a:endParaRPr lang="en-CA"/>
          </a:p>
        </p:txBody>
      </p:sp>
      <p:sp>
        <p:nvSpPr>
          <p:cNvPr id="4" name="Slide Image Placeholder 3"/>
          <p:cNvSpPr>
            <a:spLocks noGrp="1" noRot="1" noChangeAspect="1"/>
          </p:cNvSpPr>
          <p:nvPr>
            <p:ph type="sldImg" idx="2"/>
          </p:nvPr>
        </p:nvSpPr>
        <p:spPr>
          <a:xfrm>
            <a:off x="1497013" y="1200150"/>
            <a:ext cx="4321175" cy="3240088"/>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731838" y="4621213"/>
            <a:ext cx="5851525" cy="37798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9120188"/>
            <a:ext cx="3170238" cy="481012"/>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4143375" y="9120188"/>
            <a:ext cx="3170238" cy="481012"/>
          </a:xfrm>
          <a:prstGeom prst="rect">
            <a:avLst/>
          </a:prstGeom>
        </p:spPr>
        <p:txBody>
          <a:bodyPr vert="horz" lIns="91440" tIns="45720" rIns="91440" bIns="45720" rtlCol="0" anchor="b"/>
          <a:lstStyle>
            <a:lvl1pPr algn="r">
              <a:defRPr sz="1200"/>
            </a:lvl1pPr>
          </a:lstStyle>
          <a:p>
            <a:fld id="{D9D9F9F3-446F-41CA-811B-FFC24375D26C}" type="slidenum">
              <a:rPr lang="en-CA" smtClean="0"/>
              <a:t>‹#›</a:t>
            </a:fld>
            <a:endParaRPr lang="en-CA"/>
          </a:p>
        </p:txBody>
      </p:sp>
    </p:spTree>
    <p:extLst>
      <p:ext uri="{BB962C8B-B14F-4D97-AF65-F5344CB8AC3E}">
        <p14:creationId xmlns:p14="http://schemas.microsoft.com/office/powerpoint/2010/main" val="18311122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10"/>
          </p:nvPr>
        </p:nvSpPr>
        <p:spPr/>
        <p:txBody>
          <a:bodyPr/>
          <a:lstStyle/>
          <a:p>
            <a:fld id="{D9D9F9F3-446F-41CA-811B-FFC24375D26C}" type="slidenum">
              <a:rPr lang="en-CA" smtClean="0"/>
              <a:t>1</a:t>
            </a:fld>
            <a:endParaRPr lang="en-CA"/>
          </a:p>
        </p:txBody>
      </p:sp>
    </p:spTree>
    <p:extLst>
      <p:ext uri="{BB962C8B-B14F-4D97-AF65-F5344CB8AC3E}">
        <p14:creationId xmlns:p14="http://schemas.microsoft.com/office/powerpoint/2010/main" val="371791198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17" name="Rectangle 16"/>
          <p:cNvSpPr/>
          <p:nvPr userDrawn="1"/>
        </p:nvSpPr>
        <p:spPr>
          <a:xfrm>
            <a:off x="0" y="0"/>
            <a:ext cx="43891200" cy="6019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68568" tIns="34284" rIns="68568" bIns="34284" rtlCol="0" anchor="ctr"/>
          <a:lstStyle/>
          <a:p>
            <a:pPr algn="ctr"/>
            <a:endParaRPr lang="en-US"/>
          </a:p>
        </p:txBody>
      </p:sp>
      <p:sp>
        <p:nvSpPr>
          <p:cNvPr id="11" name="Instructions"/>
          <p:cNvSpPr/>
          <p:nvPr userDrawn="1"/>
        </p:nvSpPr>
        <p:spPr>
          <a:xfrm>
            <a:off x="-10515600" y="0"/>
            <a:ext cx="9601200" cy="329184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71421" tIns="171421" rIns="171421" bIns="171421" rtlCol="0" anchor="t"/>
          <a:lstStyle>
            <a:defPPr>
              <a:defRPr lang="en-US"/>
            </a:defPPr>
            <a:lvl1pPr marL="0" algn="l" defTabSz="3686861" rtl="0" eaLnBrk="1" latinLnBrk="0" hangingPunct="1">
              <a:defRPr sz="7258" kern="1200">
                <a:solidFill>
                  <a:schemeClr val="lt1"/>
                </a:solidFill>
                <a:latin typeface="+mn-lt"/>
                <a:ea typeface="+mn-ea"/>
                <a:cs typeface="+mn-cs"/>
              </a:defRPr>
            </a:lvl1pPr>
            <a:lvl2pPr marL="1843430" algn="l" defTabSz="3686861" rtl="0" eaLnBrk="1" latinLnBrk="0" hangingPunct="1">
              <a:defRPr sz="7258" kern="1200">
                <a:solidFill>
                  <a:schemeClr val="lt1"/>
                </a:solidFill>
                <a:latin typeface="+mn-lt"/>
                <a:ea typeface="+mn-ea"/>
                <a:cs typeface="+mn-cs"/>
              </a:defRPr>
            </a:lvl2pPr>
            <a:lvl3pPr marL="3686861" algn="l" defTabSz="3686861" rtl="0" eaLnBrk="1" latinLnBrk="0" hangingPunct="1">
              <a:defRPr sz="7258" kern="1200">
                <a:solidFill>
                  <a:schemeClr val="lt1"/>
                </a:solidFill>
                <a:latin typeface="+mn-lt"/>
                <a:ea typeface="+mn-ea"/>
                <a:cs typeface="+mn-cs"/>
              </a:defRPr>
            </a:lvl3pPr>
            <a:lvl4pPr marL="5530291" algn="l" defTabSz="3686861" rtl="0" eaLnBrk="1" latinLnBrk="0" hangingPunct="1">
              <a:defRPr sz="7258" kern="1200">
                <a:solidFill>
                  <a:schemeClr val="lt1"/>
                </a:solidFill>
                <a:latin typeface="+mn-lt"/>
                <a:ea typeface="+mn-ea"/>
                <a:cs typeface="+mn-cs"/>
              </a:defRPr>
            </a:lvl4pPr>
            <a:lvl5pPr marL="7373722" algn="l" defTabSz="3686861" rtl="0" eaLnBrk="1" latinLnBrk="0" hangingPunct="1">
              <a:defRPr sz="7258" kern="1200">
                <a:solidFill>
                  <a:schemeClr val="lt1"/>
                </a:solidFill>
                <a:latin typeface="+mn-lt"/>
                <a:ea typeface="+mn-ea"/>
                <a:cs typeface="+mn-cs"/>
              </a:defRPr>
            </a:lvl5pPr>
            <a:lvl6pPr marL="9217152" algn="l" defTabSz="3686861" rtl="0" eaLnBrk="1" latinLnBrk="0" hangingPunct="1">
              <a:defRPr sz="7258" kern="1200">
                <a:solidFill>
                  <a:schemeClr val="lt1"/>
                </a:solidFill>
                <a:latin typeface="+mn-lt"/>
                <a:ea typeface="+mn-ea"/>
                <a:cs typeface="+mn-cs"/>
              </a:defRPr>
            </a:lvl6pPr>
            <a:lvl7pPr marL="11060582" algn="l" defTabSz="3686861" rtl="0" eaLnBrk="1" latinLnBrk="0" hangingPunct="1">
              <a:defRPr sz="7258" kern="1200">
                <a:solidFill>
                  <a:schemeClr val="lt1"/>
                </a:solidFill>
                <a:latin typeface="+mn-lt"/>
                <a:ea typeface="+mn-ea"/>
                <a:cs typeface="+mn-cs"/>
              </a:defRPr>
            </a:lvl7pPr>
            <a:lvl8pPr marL="12904013" algn="l" defTabSz="3686861" rtl="0" eaLnBrk="1" latinLnBrk="0" hangingPunct="1">
              <a:defRPr sz="7258" kern="1200">
                <a:solidFill>
                  <a:schemeClr val="lt1"/>
                </a:solidFill>
                <a:latin typeface="+mn-lt"/>
                <a:ea typeface="+mn-ea"/>
                <a:cs typeface="+mn-cs"/>
              </a:defRPr>
            </a:lvl8pPr>
            <a:lvl9pPr marL="14747443" algn="l" defTabSz="3686861" rtl="0" eaLnBrk="1" latinLnBrk="0" hangingPunct="1">
              <a:defRPr sz="7258" kern="1200">
                <a:solidFill>
                  <a:schemeClr val="lt1"/>
                </a:solidFill>
                <a:latin typeface="+mn-lt"/>
                <a:ea typeface="+mn-ea"/>
                <a:cs typeface="+mn-cs"/>
              </a:defRPr>
            </a:lvl9pPr>
          </a:lstStyle>
          <a:p>
            <a:pPr lvl="0">
              <a:spcBef>
                <a:spcPts val="0"/>
              </a:spcBef>
              <a:spcAft>
                <a:spcPts val="1800"/>
              </a:spcAft>
            </a:pPr>
            <a:r>
              <a:rPr lang="en-US" sz="7200">
                <a:solidFill>
                  <a:srgbClr val="7F7F7F"/>
                </a:solidFill>
                <a:latin typeface="Calibri" pitchFamily="34" charset="0"/>
                <a:cs typeface="Calibri" panose="020F0502020204030204" pitchFamily="34" charset="0"/>
              </a:rPr>
              <a:t>Poster Print Size:</a:t>
            </a:r>
            <a:endParaRPr sz="7200">
              <a:solidFill>
                <a:srgbClr val="7F7F7F"/>
              </a:solidFill>
              <a:latin typeface="Calibri" pitchFamily="34" charset="0"/>
              <a:cs typeface="Calibri" panose="020F0502020204030204" pitchFamily="34" charset="0"/>
            </a:endParaRPr>
          </a:p>
          <a:p>
            <a:pPr lvl="0">
              <a:spcBef>
                <a:spcPts val="0"/>
              </a:spcBef>
              <a:spcAft>
                <a:spcPts val="1800"/>
              </a:spcAft>
            </a:pPr>
            <a:r>
              <a:rPr lang="en-US" sz="4900">
                <a:solidFill>
                  <a:srgbClr val="7F7F7F"/>
                </a:solidFill>
                <a:latin typeface="Calibri" pitchFamily="34" charset="0"/>
                <a:cs typeface="Calibri" panose="020F0502020204030204" pitchFamily="34" charset="0"/>
              </a:rPr>
              <a:t>This poster template is 36” high by 48” wide. It can be used to print any poster with a 3:4 aspect ratio.</a:t>
            </a:r>
          </a:p>
          <a:p>
            <a:pPr lvl="0">
              <a:spcBef>
                <a:spcPts val="0"/>
              </a:spcBef>
              <a:spcAft>
                <a:spcPts val="1800"/>
              </a:spcAft>
            </a:pPr>
            <a:r>
              <a:rPr lang="en-US" sz="7200">
                <a:solidFill>
                  <a:srgbClr val="7F7F7F"/>
                </a:solidFill>
                <a:latin typeface="Calibri" pitchFamily="34" charset="0"/>
                <a:cs typeface="Calibri" panose="020F0502020204030204" pitchFamily="34" charset="0"/>
              </a:rPr>
              <a:t>Placeholders</a:t>
            </a:r>
            <a:r>
              <a:rPr sz="7200">
                <a:solidFill>
                  <a:srgbClr val="7F7F7F"/>
                </a:solidFill>
                <a:latin typeface="Calibri" pitchFamily="34" charset="0"/>
                <a:cs typeface="Calibri" panose="020F0502020204030204" pitchFamily="34" charset="0"/>
              </a:rPr>
              <a:t>:</a:t>
            </a:r>
          </a:p>
          <a:p>
            <a:pPr lvl="0">
              <a:spcBef>
                <a:spcPts val="0"/>
              </a:spcBef>
              <a:spcAft>
                <a:spcPts val="1800"/>
              </a:spcAft>
            </a:pPr>
            <a:r>
              <a:rPr sz="4900">
                <a:solidFill>
                  <a:srgbClr val="7F7F7F"/>
                </a:solidFill>
                <a:latin typeface="Calibri" pitchFamily="34" charset="0"/>
                <a:cs typeface="Calibri" panose="020F0502020204030204" pitchFamily="34" charset="0"/>
              </a:rPr>
              <a:t>The </a:t>
            </a:r>
            <a:r>
              <a:rPr lang="en-US" sz="4900">
                <a:solidFill>
                  <a:srgbClr val="7F7F7F"/>
                </a:solidFill>
                <a:latin typeface="Calibri" pitchFamily="34" charset="0"/>
                <a:cs typeface="Calibri" panose="020F0502020204030204" pitchFamily="34" charset="0"/>
              </a:rPr>
              <a:t>various elements included</a:t>
            </a:r>
            <a:r>
              <a:rPr sz="4900">
                <a:solidFill>
                  <a:srgbClr val="7F7F7F"/>
                </a:solidFill>
                <a:latin typeface="Calibri" pitchFamily="34" charset="0"/>
                <a:cs typeface="Calibri" panose="020F0502020204030204" pitchFamily="34" charset="0"/>
              </a:rPr>
              <a:t> in this </a:t>
            </a:r>
            <a:r>
              <a:rPr lang="en-US" sz="4900">
                <a:solidFill>
                  <a:srgbClr val="7F7F7F"/>
                </a:solidFill>
                <a:latin typeface="Calibri" pitchFamily="34" charset="0"/>
                <a:cs typeface="Calibri" panose="020F0502020204030204" pitchFamily="34" charset="0"/>
              </a:rPr>
              <a:t>poster are ones</a:t>
            </a:r>
            <a:r>
              <a:rPr lang="en-US" sz="4900" baseline="0">
                <a:solidFill>
                  <a:srgbClr val="7F7F7F"/>
                </a:solidFill>
                <a:latin typeface="Calibri" pitchFamily="34" charset="0"/>
                <a:cs typeface="Calibri" panose="020F0502020204030204" pitchFamily="34" charset="0"/>
              </a:rPr>
              <a:t> we often see in medical, research, and scientific posters.</a:t>
            </a:r>
            <a:r>
              <a:rPr sz="4900">
                <a:solidFill>
                  <a:srgbClr val="7F7F7F"/>
                </a:solidFill>
                <a:latin typeface="Calibri" pitchFamily="34" charset="0"/>
                <a:cs typeface="Calibri" panose="020F0502020204030204" pitchFamily="34" charset="0"/>
              </a:rPr>
              <a:t> </a:t>
            </a:r>
            <a:r>
              <a:rPr lang="en-US" sz="4900">
                <a:solidFill>
                  <a:srgbClr val="7F7F7F"/>
                </a:solidFill>
                <a:latin typeface="Calibri" pitchFamily="34" charset="0"/>
                <a:cs typeface="Calibri" panose="020F0502020204030204" pitchFamily="34" charset="0"/>
              </a:rPr>
              <a:t>Feel</a:t>
            </a:r>
            <a:r>
              <a:rPr lang="en-US" sz="4900" baseline="0">
                <a:solidFill>
                  <a:srgbClr val="7F7F7F"/>
                </a:solidFill>
                <a:latin typeface="Calibri" pitchFamily="34" charset="0"/>
                <a:cs typeface="Calibri" panose="020F0502020204030204" pitchFamily="34" charset="0"/>
              </a:rPr>
              <a:t> free to edit, move,  add, and delete items, or change the layout to suit your needs. Always check with your conference organizer for specific requirements.</a:t>
            </a:r>
          </a:p>
          <a:p>
            <a:pPr lvl="0">
              <a:spcBef>
                <a:spcPts val="0"/>
              </a:spcBef>
              <a:spcAft>
                <a:spcPts val="1800"/>
              </a:spcAft>
            </a:pPr>
            <a:r>
              <a:rPr lang="en-US" sz="7200">
                <a:solidFill>
                  <a:srgbClr val="7F7F7F"/>
                </a:solidFill>
                <a:latin typeface="Calibri" pitchFamily="34" charset="0"/>
                <a:cs typeface="Calibri" panose="020F0502020204030204" pitchFamily="34" charset="0"/>
              </a:rPr>
              <a:t>Image</a:t>
            </a:r>
            <a:r>
              <a:rPr lang="en-US" sz="7200" baseline="0">
                <a:solidFill>
                  <a:srgbClr val="7F7F7F"/>
                </a:solidFill>
                <a:latin typeface="Calibri" pitchFamily="34" charset="0"/>
                <a:cs typeface="Calibri" panose="020F0502020204030204" pitchFamily="34" charset="0"/>
              </a:rPr>
              <a:t> Quality</a:t>
            </a:r>
            <a:r>
              <a:rPr lang="en-US" sz="7200">
                <a:solidFill>
                  <a:srgbClr val="7F7F7F"/>
                </a:solidFill>
                <a:latin typeface="Calibri" pitchFamily="34" charset="0"/>
                <a:cs typeface="Calibri" panose="020F0502020204030204" pitchFamily="34" charset="0"/>
              </a:rPr>
              <a:t>:</a:t>
            </a:r>
          </a:p>
          <a:p>
            <a:pPr lvl="0">
              <a:spcBef>
                <a:spcPts val="0"/>
              </a:spcBef>
              <a:spcAft>
                <a:spcPts val="1800"/>
              </a:spcAft>
            </a:pPr>
            <a:r>
              <a:rPr lang="en-US" sz="4900">
                <a:solidFill>
                  <a:srgbClr val="7F7F7F"/>
                </a:solidFill>
                <a:latin typeface="Calibri" pitchFamily="34" charset="0"/>
                <a:cs typeface="Calibri" panose="020F0502020204030204" pitchFamily="34" charset="0"/>
              </a:rPr>
              <a:t>You can place digital photos or logo art in your poster file by selecting the </a:t>
            </a:r>
            <a:r>
              <a:rPr lang="en-US" sz="4900" b="1">
                <a:solidFill>
                  <a:srgbClr val="7F7F7F"/>
                </a:solidFill>
                <a:latin typeface="Calibri" pitchFamily="34" charset="0"/>
                <a:cs typeface="Calibri" panose="020F0502020204030204" pitchFamily="34" charset="0"/>
              </a:rPr>
              <a:t>Insert, Picture</a:t>
            </a:r>
            <a:r>
              <a:rPr lang="en-US" sz="4900">
                <a:solidFill>
                  <a:srgbClr val="7F7F7F"/>
                </a:solidFill>
                <a:latin typeface="Calibri" pitchFamily="34" charset="0"/>
                <a:cs typeface="Calibri" panose="020F0502020204030204" pitchFamily="34" charset="0"/>
              </a:rPr>
              <a:t> command, or by using standard copy &amp; paste. For best results, all graphic elements should be at least </a:t>
            </a:r>
            <a:r>
              <a:rPr lang="en-US" sz="4900" b="1">
                <a:solidFill>
                  <a:srgbClr val="7F7F7F"/>
                </a:solidFill>
                <a:latin typeface="Calibri" pitchFamily="34" charset="0"/>
                <a:cs typeface="Calibri" panose="020F0502020204030204" pitchFamily="34" charset="0"/>
              </a:rPr>
              <a:t>150-200 pixels per inch in their final printed size</a:t>
            </a:r>
            <a:r>
              <a:rPr lang="en-US" sz="4900">
                <a:solidFill>
                  <a:srgbClr val="7F7F7F"/>
                </a:solidFill>
                <a:latin typeface="Calibri" pitchFamily="34" charset="0"/>
                <a:cs typeface="Calibri" panose="020F0502020204030204" pitchFamily="34" charset="0"/>
              </a:rPr>
              <a:t>. For instance, a 1600 x 1200 pixel</a:t>
            </a:r>
            <a:r>
              <a:rPr lang="en-US" sz="4900" baseline="0">
                <a:solidFill>
                  <a:srgbClr val="7F7F7F"/>
                </a:solidFill>
                <a:latin typeface="Calibri" pitchFamily="34" charset="0"/>
                <a:cs typeface="Calibri" panose="020F0502020204030204" pitchFamily="34" charset="0"/>
              </a:rPr>
              <a:t> photo will usually look fine up to </a:t>
            </a:r>
            <a:r>
              <a:rPr lang="en-US" sz="4900">
                <a:solidFill>
                  <a:srgbClr val="7F7F7F"/>
                </a:solidFill>
                <a:latin typeface="Calibri" pitchFamily="34" charset="0"/>
                <a:cs typeface="Calibri" panose="020F0502020204030204" pitchFamily="34" charset="0"/>
              </a:rPr>
              <a:t>8“-10” wide on your printed poster.</a:t>
            </a:r>
          </a:p>
          <a:p>
            <a:pPr lvl="0">
              <a:spcBef>
                <a:spcPts val="0"/>
              </a:spcBef>
              <a:spcAft>
                <a:spcPts val="1800"/>
              </a:spcAft>
            </a:pPr>
            <a:r>
              <a:rPr lang="en-US" sz="4900">
                <a:solidFill>
                  <a:srgbClr val="7F7F7F"/>
                </a:solidFill>
                <a:latin typeface="Calibri" pitchFamily="34" charset="0"/>
                <a:cs typeface="Calibri" panose="020F0502020204030204" pitchFamily="34" charset="0"/>
              </a:rPr>
              <a:t>To preview the print quality of images, select a magnification of 100% when previewing your poster. This will give you a good idea of what it will look like in print. If you are laying out a large poster and using half-scale dimensions, be sure to preview your graphics at 200% to see them at their final printed size.</a:t>
            </a:r>
          </a:p>
          <a:p>
            <a:pPr lvl="0">
              <a:spcBef>
                <a:spcPts val="0"/>
              </a:spcBef>
              <a:spcAft>
                <a:spcPts val="1800"/>
              </a:spcAft>
            </a:pPr>
            <a:r>
              <a:rPr lang="en-US" sz="4900">
                <a:solidFill>
                  <a:srgbClr val="7F7F7F"/>
                </a:solidFill>
                <a:latin typeface="Calibri" pitchFamily="34" charset="0"/>
                <a:cs typeface="Calibri" panose="020F0502020204030204" pitchFamily="34" charset="0"/>
              </a:rPr>
              <a:t>Please note that graphics from websites (such as the logo on your hospital's or university's home page) will only be 72dpi and not suitable for printing.</a:t>
            </a:r>
          </a:p>
          <a:p>
            <a:pPr lvl="0" algn="ctr">
              <a:spcBef>
                <a:spcPts val="0"/>
              </a:spcBef>
              <a:spcAft>
                <a:spcPts val="1800"/>
              </a:spcAft>
            </a:pPr>
            <a:br>
              <a:rPr lang="en-US" sz="3600">
                <a:solidFill>
                  <a:srgbClr val="7F7F7F"/>
                </a:solidFill>
                <a:latin typeface="Calibri" pitchFamily="34" charset="0"/>
                <a:cs typeface="Calibri" panose="020F0502020204030204" pitchFamily="34" charset="0"/>
              </a:rPr>
            </a:br>
            <a:r>
              <a:rPr lang="en-US" sz="3600">
                <a:solidFill>
                  <a:srgbClr val="7F7F7F"/>
                </a:solidFill>
                <a:latin typeface="Calibri" pitchFamily="34" charset="0"/>
                <a:cs typeface="Calibri" panose="020F0502020204030204" pitchFamily="34" charset="0"/>
              </a:rPr>
              <a:t>[This sidebar area does not print.]</a:t>
            </a:r>
          </a:p>
        </p:txBody>
      </p:sp>
      <p:grpSp>
        <p:nvGrpSpPr>
          <p:cNvPr id="12" name="Group 11"/>
          <p:cNvGrpSpPr/>
          <p:nvPr userDrawn="1"/>
        </p:nvGrpSpPr>
        <p:grpSpPr>
          <a:xfrm>
            <a:off x="44805600" y="0"/>
            <a:ext cx="9601200" cy="32918400"/>
            <a:chOff x="33832800" y="0"/>
            <a:chExt cx="12801600" cy="43891200"/>
          </a:xfrm>
        </p:grpSpPr>
        <p:sp>
          <p:nvSpPr>
            <p:cNvPr id="13" name="Instructions"/>
            <p:cNvSpPr/>
            <p:nvPr userDrawn="1"/>
          </p:nvSpPr>
          <p:spPr>
            <a:xfrm>
              <a:off x="33832800" y="0"/>
              <a:ext cx="12801600" cy="438912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228600" tIns="228600" rIns="228600" bIns="228600" rtlCol="0" anchor="t"/>
            <a:lstStyle>
              <a:defPPr>
                <a:defRPr lang="en-US"/>
              </a:defPPr>
              <a:lvl1pPr marL="0" algn="l" defTabSz="3686861" rtl="0" eaLnBrk="1" latinLnBrk="0" hangingPunct="1">
                <a:defRPr sz="7258" kern="1200">
                  <a:solidFill>
                    <a:schemeClr val="lt1"/>
                  </a:solidFill>
                  <a:latin typeface="+mn-lt"/>
                  <a:ea typeface="+mn-ea"/>
                  <a:cs typeface="+mn-cs"/>
                </a:defRPr>
              </a:lvl1pPr>
              <a:lvl2pPr marL="1843430" algn="l" defTabSz="3686861" rtl="0" eaLnBrk="1" latinLnBrk="0" hangingPunct="1">
                <a:defRPr sz="7258" kern="1200">
                  <a:solidFill>
                    <a:schemeClr val="lt1"/>
                  </a:solidFill>
                  <a:latin typeface="+mn-lt"/>
                  <a:ea typeface="+mn-ea"/>
                  <a:cs typeface="+mn-cs"/>
                </a:defRPr>
              </a:lvl2pPr>
              <a:lvl3pPr marL="3686861" algn="l" defTabSz="3686861" rtl="0" eaLnBrk="1" latinLnBrk="0" hangingPunct="1">
                <a:defRPr sz="7258" kern="1200">
                  <a:solidFill>
                    <a:schemeClr val="lt1"/>
                  </a:solidFill>
                  <a:latin typeface="+mn-lt"/>
                  <a:ea typeface="+mn-ea"/>
                  <a:cs typeface="+mn-cs"/>
                </a:defRPr>
              </a:lvl3pPr>
              <a:lvl4pPr marL="5530291" algn="l" defTabSz="3686861" rtl="0" eaLnBrk="1" latinLnBrk="0" hangingPunct="1">
                <a:defRPr sz="7258" kern="1200">
                  <a:solidFill>
                    <a:schemeClr val="lt1"/>
                  </a:solidFill>
                  <a:latin typeface="+mn-lt"/>
                  <a:ea typeface="+mn-ea"/>
                  <a:cs typeface="+mn-cs"/>
                </a:defRPr>
              </a:lvl4pPr>
              <a:lvl5pPr marL="7373722" algn="l" defTabSz="3686861" rtl="0" eaLnBrk="1" latinLnBrk="0" hangingPunct="1">
                <a:defRPr sz="7258" kern="1200">
                  <a:solidFill>
                    <a:schemeClr val="lt1"/>
                  </a:solidFill>
                  <a:latin typeface="+mn-lt"/>
                  <a:ea typeface="+mn-ea"/>
                  <a:cs typeface="+mn-cs"/>
                </a:defRPr>
              </a:lvl5pPr>
              <a:lvl6pPr marL="9217152" algn="l" defTabSz="3686861" rtl="0" eaLnBrk="1" latinLnBrk="0" hangingPunct="1">
                <a:defRPr sz="7258" kern="1200">
                  <a:solidFill>
                    <a:schemeClr val="lt1"/>
                  </a:solidFill>
                  <a:latin typeface="+mn-lt"/>
                  <a:ea typeface="+mn-ea"/>
                  <a:cs typeface="+mn-cs"/>
                </a:defRPr>
              </a:lvl6pPr>
              <a:lvl7pPr marL="11060582" algn="l" defTabSz="3686861" rtl="0" eaLnBrk="1" latinLnBrk="0" hangingPunct="1">
                <a:defRPr sz="7258" kern="1200">
                  <a:solidFill>
                    <a:schemeClr val="lt1"/>
                  </a:solidFill>
                  <a:latin typeface="+mn-lt"/>
                  <a:ea typeface="+mn-ea"/>
                  <a:cs typeface="+mn-cs"/>
                </a:defRPr>
              </a:lvl7pPr>
              <a:lvl8pPr marL="12904013" algn="l" defTabSz="3686861" rtl="0" eaLnBrk="1" latinLnBrk="0" hangingPunct="1">
                <a:defRPr sz="7258" kern="1200">
                  <a:solidFill>
                    <a:schemeClr val="lt1"/>
                  </a:solidFill>
                  <a:latin typeface="+mn-lt"/>
                  <a:ea typeface="+mn-ea"/>
                  <a:cs typeface="+mn-cs"/>
                </a:defRPr>
              </a:lvl8pPr>
              <a:lvl9pPr marL="14747443" algn="l" defTabSz="3686861" rtl="0" eaLnBrk="1" latinLnBrk="0" hangingPunct="1">
                <a:defRPr sz="7258" kern="1200">
                  <a:solidFill>
                    <a:schemeClr val="lt1"/>
                  </a:solidFill>
                  <a:latin typeface="+mn-lt"/>
                  <a:ea typeface="+mn-ea"/>
                  <a:cs typeface="+mn-cs"/>
                </a:defRPr>
              </a:lvl9pPr>
            </a:lstStyle>
            <a:p>
              <a:pPr lvl="0">
                <a:spcBef>
                  <a:spcPts val="0"/>
                </a:spcBef>
                <a:spcAft>
                  <a:spcPts val="1800"/>
                </a:spcAft>
              </a:pPr>
              <a:r>
                <a:rPr lang="en-US" sz="7200">
                  <a:solidFill>
                    <a:schemeClr val="bg1">
                      <a:lumMod val="50000"/>
                    </a:schemeClr>
                  </a:solidFill>
                  <a:latin typeface="Calibri" pitchFamily="34" charset="0"/>
                  <a:cs typeface="Calibri" panose="020F0502020204030204" pitchFamily="34" charset="0"/>
                </a:rPr>
                <a:t>Change</a:t>
              </a:r>
              <a:r>
                <a:rPr lang="en-US" sz="7200" baseline="0">
                  <a:solidFill>
                    <a:schemeClr val="bg1">
                      <a:lumMod val="50000"/>
                    </a:schemeClr>
                  </a:solidFill>
                  <a:latin typeface="Calibri" pitchFamily="34" charset="0"/>
                  <a:cs typeface="Calibri" panose="020F0502020204030204" pitchFamily="34" charset="0"/>
                </a:rPr>
                <a:t> Color Theme</a:t>
              </a:r>
              <a:r>
                <a:rPr lang="en-US" sz="7200">
                  <a:solidFill>
                    <a:schemeClr val="bg1">
                      <a:lumMod val="50000"/>
                    </a:schemeClr>
                  </a:solidFill>
                  <a:latin typeface="Calibri" pitchFamily="34" charset="0"/>
                  <a:cs typeface="Calibri" panose="020F0502020204030204" pitchFamily="34" charset="0"/>
                </a:rPr>
                <a:t>:</a:t>
              </a:r>
              <a:endParaRPr sz="7200">
                <a:solidFill>
                  <a:schemeClr val="bg1">
                    <a:lumMod val="50000"/>
                  </a:schemeClr>
                </a:solidFill>
                <a:latin typeface="Calibri" pitchFamily="34" charset="0"/>
                <a:cs typeface="Calibri" panose="020F0502020204030204" pitchFamily="34" charset="0"/>
              </a:endParaRPr>
            </a:p>
            <a:p>
              <a:pPr lvl="0">
                <a:spcBef>
                  <a:spcPts val="0"/>
                </a:spcBef>
                <a:spcAft>
                  <a:spcPts val="1800"/>
                </a:spcAft>
              </a:pPr>
              <a:r>
                <a:rPr lang="en-US" sz="4900">
                  <a:solidFill>
                    <a:schemeClr val="bg1">
                      <a:lumMod val="50000"/>
                    </a:schemeClr>
                  </a:solidFill>
                  <a:latin typeface="Calibri" pitchFamily="34" charset="0"/>
                  <a:cs typeface="Calibri" panose="020F0502020204030204" pitchFamily="34" charset="0"/>
                </a:rPr>
                <a:t>This template is designed to use the built-in color themes in</a:t>
              </a:r>
              <a:r>
                <a:rPr lang="en-US" sz="4900" baseline="0">
                  <a:solidFill>
                    <a:schemeClr val="bg1">
                      <a:lumMod val="50000"/>
                    </a:schemeClr>
                  </a:solidFill>
                  <a:latin typeface="Calibri" pitchFamily="34" charset="0"/>
                  <a:cs typeface="Calibri" panose="020F0502020204030204" pitchFamily="34" charset="0"/>
                </a:rPr>
                <a:t> the newer versions of PowerPoint.</a:t>
              </a:r>
            </a:p>
            <a:p>
              <a:pPr lvl="0">
                <a:spcBef>
                  <a:spcPts val="0"/>
                </a:spcBef>
                <a:spcAft>
                  <a:spcPts val="1800"/>
                </a:spcAft>
              </a:pPr>
              <a:r>
                <a:rPr lang="en-US" sz="4900" baseline="0">
                  <a:solidFill>
                    <a:schemeClr val="bg1">
                      <a:lumMod val="50000"/>
                    </a:schemeClr>
                  </a:solidFill>
                  <a:latin typeface="Calibri" pitchFamily="34" charset="0"/>
                  <a:cs typeface="Calibri" panose="020F0502020204030204" pitchFamily="34" charset="0"/>
                </a:rPr>
                <a:t>To change the color theme, select the </a:t>
              </a:r>
              <a:r>
                <a:rPr lang="en-US" sz="4900" b="1" baseline="0">
                  <a:solidFill>
                    <a:schemeClr val="bg1">
                      <a:lumMod val="50000"/>
                    </a:schemeClr>
                  </a:solidFill>
                  <a:latin typeface="Calibri" pitchFamily="34" charset="0"/>
                  <a:cs typeface="Calibri" panose="020F0502020204030204" pitchFamily="34" charset="0"/>
                </a:rPr>
                <a:t>Design</a:t>
              </a:r>
              <a:r>
                <a:rPr lang="en-US" sz="4900" baseline="0">
                  <a:solidFill>
                    <a:schemeClr val="bg1">
                      <a:lumMod val="50000"/>
                    </a:schemeClr>
                  </a:solidFill>
                  <a:latin typeface="Calibri" pitchFamily="34" charset="0"/>
                  <a:cs typeface="Calibri" panose="020F0502020204030204" pitchFamily="34" charset="0"/>
                </a:rPr>
                <a:t> tab, then select the </a:t>
              </a:r>
              <a:r>
                <a:rPr lang="en-US" sz="4900" b="1" baseline="0">
                  <a:solidFill>
                    <a:schemeClr val="bg1">
                      <a:lumMod val="50000"/>
                    </a:schemeClr>
                  </a:solidFill>
                  <a:latin typeface="Calibri" pitchFamily="34" charset="0"/>
                  <a:cs typeface="Calibri" panose="020F0502020204030204" pitchFamily="34" charset="0"/>
                </a:rPr>
                <a:t>Colors</a:t>
              </a:r>
              <a:r>
                <a:rPr lang="en-US" sz="4900" baseline="0">
                  <a:solidFill>
                    <a:schemeClr val="bg1">
                      <a:lumMod val="50000"/>
                    </a:schemeClr>
                  </a:solidFill>
                  <a:latin typeface="Calibri" pitchFamily="34" charset="0"/>
                  <a:cs typeface="Calibri" panose="020F0502020204030204" pitchFamily="34" charset="0"/>
                </a:rPr>
                <a:t> drop-down list.</a:t>
              </a:r>
            </a:p>
            <a:p>
              <a:pPr lvl="0">
                <a:spcBef>
                  <a:spcPts val="0"/>
                </a:spcBef>
                <a:spcAft>
                  <a:spcPts val="1800"/>
                </a:spcAft>
              </a:pPr>
              <a:endParaRPr lang="en-US" sz="4900" baseline="0">
                <a:solidFill>
                  <a:schemeClr val="bg1">
                    <a:lumMod val="50000"/>
                  </a:schemeClr>
                </a:solidFill>
                <a:latin typeface="Calibri" pitchFamily="34" charset="0"/>
                <a:cs typeface="Calibri" panose="020F0502020204030204" pitchFamily="34" charset="0"/>
              </a:endParaRPr>
            </a:p>
            <a:p>
              <a:pPr lvl="0">
                <a:spcBef>
                  <a:spcPts val="0"/>
                </a:spcBef>
                <a:spcAft>
                  <a:spcPts val="1800"/>
                </a:spcAft>
              </a:pPr>
              <a:endParaRPr lang="en-US" sz="4900" baseline="0">
                <a:solidFill>
                  <a:schemeClr val="bg1">
                    <a:lumMod val="50000"/>
                  </a:schemeClr>
                </a:solidFill>
                <a:latin typeface="Calibri" pitchFamily="34" charset="0"/>
                <a:cs typeface="Calibri" panose="020F0502020204030204" pitchFamily="34" charset="0"/>
              </a:endParaRPr>
            </a:p>
            <a:p>
              <a:pPr lvl="0">
                <a:spcBef>
                  <a:spcPts val="0"/>
                </a:spcBef>
                <a:spcAft>
                  <a:spcPts val="1800"/>
                </a:spcAft>
              </a:pPr>
              <a:endParaRPr lang="en-US" sz="4900" baseline="0">
                <a:solidFill>
                  <a:schemeClr val="bg1">
                    <a:lumMod val="50000"/>
                  </a:schemeClr>
                </a:solidFill>
                <a:latin typeface="Calibri" pitchFamily="34" charset="0"/>
                <a:cs typeface="Calibri" panose="020F0502020204030204" pitchFamily="34" charset="0"/>
              </a:endParaRPr>
            </a:p>
            <a:p>
              <a:pPr lvl="0">
                <a:spcBef>
                  <a:spcPts val="0"/>
                </a:spcBef>
                <a:spcAft>
                  <a:spcPts val="1800"/>
                </a:spcAft>
              </a:pPr>
              <a:endParaRPr lang="en-US" sz="4900" baseline="0">
                <a:solidFill>
                  <a:schemeClr val="bg1">
                    <a:lumMod val="50000"/>
                  </a:schemeClr>
                </a:solidFill>
                <a:latin typeface="Calibri" pitchFamily="34" charset="0"/>
                <a:cs typeface="Calibri" panose="020F0502020204030204" pitchFamily="34" charset="0"/>
              </a:endParaRPr>
            </a:p>
            <a:p>
              <a:pPr lvl="0">
                <a:spcBef>
                  <a:spcPts val="0"/>
                </a:spcBef>
                <a:spcAft>
                  <a:spcPts val="1800"/>
                </a:spcAft>
              </a:pPr>
              <a:endParaRPr lang="en-US" sz="4900" baseline="0">
                <a:solidFill>
                  <a:schemeClr val="bg1">
                    <a:lumMod val="50000"/>
                  </a:schemeClr>
                </a:solidFill>
                <a:latin typeface="Calibri" pitchFamily="34" charset="0"/>
                <a:cs typeface="Calibri" panose="020F0502020204030204" pitchFamily="34" charset="0"/>
              </a:endParaRPr>
            </a:p>
            <a:p>
              <a:pPr lvl="0">
                <a:spcBef>
                  <a:spcPts val="0"/>
                </a:spcBef>
                <a:spcAft>
                  <a:spcPts val="1800"/>
                </a:spcAft>
              </a:pPr>
              <a:endParaRPr lang="en-US" sz="4900" baseline="0">
                <a:solidFill>
                  <a:schemeClr val="bg1">
                    <a:lumMod val="50000"/>
                  </a:schemeClr>
                </a:solidFill>
                <a:latin typeface="Calibri" pitchFamily="34" charset="0"/>
                <a:cs typeface="Calibri" panose="020F0502020204030204" pitchFamily="34" charset="0"/>
              </a:endParaRPr>
            </a:p>
            <a:p>
              <a:pPr lvl="0">
                <a:spcBef>
                  <a:spcPts val="0"/>
                </a:spcBef>
                <a:spcAft>
                  <a:spcPts val="1800"/>
                </a:spcAft>
              </a:pPr>
              <a:endParaRPr lang="en-US" sz="4900" baseline="0">
                <a:solidFill>
                  <a:schemeClr val="bg1">
                    <a:lumMod val="50000"/>
                  </a:schemeClr>
                </a:solidFill>
                <a:latin typeface="Calibri" pitchFamily="34" charset="0"/>
                <a:cs typeface="Calibri" panose="020F0502020204030204" pitchFamily="34" charset="0"/>
              </a:endParaRPr>
            </a:p>
            <a:p>
              <a:pPr lvl="0">
                <a:spcBef>
                  <a:spcPts val="0"/>
                </a:spcBef>
                <a:spcAft>
                  <a:spcPts val="1800"/>
                </a:spcAft>
              </a:pPr>
              <a:endParaRPr lang="en-US" sz="4900" baseline="0">
                <a:solidFill>
                  <a:schemeClr val="bg1">
                    <a:lumMod val="50000"/>
                  </a:schemeClr>
                </a:solidFill>
                <a:latin typeface="Calibri" pitchFamily="34" charset="0"/>
                <a:cs typeface="Calibri" panose="020F0502020204030204" pitchFamily="34" charset="0"/>
              </a:endParaRPr>
            </a:p>
            <a:p>
              <a:pPr lvl="0">
                <a:spcBef>
                  <a:spcPts val="0"/>
                </a:spcBef>
                <a:spcAft>
                  <a:spcPts val="1800"/>
                </a:spcAft>
              </a:pPr>
              <a:endParaRPr lang="en-US" sz="4900" baseline="0">
                <a:solidFill>
                  <a:schemeClr val="bg1">
                    <a:lumMod val="50000"/>
                  </a:schemeClr>
                </a:solidFill>
                <a:latin typeface="Calibri" pitchFamily="34" charset="0"/>
                <a:cs typeface="Calibri" panose="020F0502020204030204" pitchFamily="34" charset="0"/>
              </a:endParaRPr>
            </a:p>
            <a:p>
              <a:pPr lvl="0">
                <a:spcBef>
                  <a:spcPts val="0"/>
                </a:spcBef>
                <a:spcAft>
                  <a:spcPts val="1800"/>
                </a:spcAft>
              </a:pPr>
              <a:r>
                <a:rPr lang="en-US" sz="4900" baseline="0">
                  <a:solidFill>
                    <a:schemeClr val="bg1">
                      <a:lumMod val="50000"/>
                    </a:schemeClr>
                  </a:solidFill>
                  <a:latin typeface="Calibri" pitchFamily="34" charset="0"/>
                  <a:cs typeface="Calibri" panose="020F0502020204030204" pitchFamily="34" charset="0"/>
                </a:rPr>
                <a:t>The default color theme for this template is “Office”, so you can always return to that after trying some of the alternatives.</a:t>
              </a:r>
            </a:p>
            <a:p>
              <a:pPr lvl="0">
                <a:spcBef>
                  <a:spcPts val="0"/>
                </a:spcBef>
                <a:spcAft>
                  <a:spcPts val="1800"/>
                </a:spcAft>
              </a:pPr>
              <a:r>
                <a:rPr lang="en-US" sz="7200">
                  <a:solidFill>
                    <a:schemeClr val="bg1">
                      <a:lumMod val="50000"/>
                    </a:schemeClr>
                  </a:solidFill>
                  <a:latin typeface="Calibri" pitchFamily="34" charset="0"/>
                  <a:cs typeface="Calibri" panose="020F0502020204030204" pitchFamily="34" charset="0"/>
                </a:rPr>
                <a:t>Printing Your Poster:</a:t>
              </a:r>
            </a:p>
            <a:p>
              <a:pPr lvl="0">
                <a:spcBef>
                  <a:spcPts val="0"/>
                </a:spcBef>
                <a:spcAft>
                  <a:spcPts val="1800"/>
                </a:spcAft>
              </a:pPr>
              <a:r>
                <a:rPr lang="en-US" sz="4900">
                  <a:solidFill>
                    <a:schemeClr val="bg1">
                      <a:lumMod val="50000"/>
                    </a:schemeClr>
                  </a:solidFill>
                  <a:latin typeface="Calibri" pitchFamily="34" charset="0"/>
                  <a:cs typeface="Calibri" panose="020F0502020204030204" pitchFamily="34" charset="0"/>
                </a:rPr>
                <a:t>Once your poster file is ready, visit</a:t>
              </a:r>
              <a:r>
                <a:rPr lang="en-US" sz="4900" baseline="0">
                  <a:solidFill>
                    <a:schemeClr val="bg1">
                      <a:lumMod val="50000"/>
                    </a:schemeClr>
                  </a:solidFill>
                  <a:latin typeface="Calibri" pitchFamily="34" charset="0"/>
                  <a:cs typeface="Calibri" panose="020F0502020204030204" pitchFamily="34" charset="0"/>
                </a:rPr>
                <a:t> </a:t>
              </a:r>
              <a:r>
                <a:rPr lang="en-US" sz="4900" b="1" baseline="0">
                  <a:solidFill>
                    <a:schemeClr val="bg1">
                      <a:lumMod val="50000"/>
                    </a:schemeClr>
                  </a:solidFill>
                  <a:latin typeface="Calibri" pitchFamily="34" charset="0"/>
                  <a:cs typeface="Calibri" panose="020F0502020204030204" pitchFamily="34" charset="0"/>
                </a:rPr>
                <a:t>www.genigraphics.com</a:t>
              </a:r>
              <a:r>
                <a:rPr lang="en-US" sz="4900" baseline="0">
                  <a:solidFill>
                    <a:schemeClr val="bg1">
                      <a:lumMod val="50000"/>
                    </a:schemeClr>
                  </a:solidFill>
                  <a:latin typeface="Calibri" pitchFamily="34" charset="0"/>
                  <a:cs typeface="Calibri" panose="020F0502020204030204" pitchFamily="34" charset="0"/>
                </a:rPr>
                <a:t> to order a high-quality, affordable poster print. Every order receives a free design review and we can deliver as fast as next business day within the US and Canada. </a:t>
              </a:r>
            </a:p>
            <a:p>
              <a:pPr lvl="0">
                <a:spcBef>
                  <a:spcPts val="0"/>
                </a:spcBef>
                <a:spcAft>
                  <a:spcPts val="1800"/>
                </a:spcAft>
              </a:pPr>
              <a:r>
                <a:rPr lang="en-US" sz="4900" baseline="0">
                  <a:solidFill>
                    <a:schemeClr val="bg1">
                      <a:lumMod val="50000"/>
                    </a:schemeClr>
                  </a:solidFill>
                  <a:latin typeface="Calibri" pitchFamily="34" charset="0"/>
                  <a:cs typeface="Calibri" panose="020F0502020204030204" pitchFamily="34" charset="0"/>
                </a:rPr>
                <a:t>Genigraphics® has been producing output from PowerPoint® longer than anyone in the industry; dating back to when we helped Microsoft® design the PowerPoint® software. </a:t>
              </a:r>
            </a:p>
            <a:p>
              <a:pPr lvl="0">
                <a:spcBef>
                  <a:spcPts val="0"/>
                </a:spcBef>
                <a:spcAft>
                  <a:spcPts val="0"/>
                </a:spcAft>
              </a:pPr>
              <a:endParaRPr lang="en-US" sz="4900" baseline="0">
                <a:solidFill>
                  <a:schemeClr val="bg1">
                    <a:lumMod val="50000"/>
                  </a:schemeClr>
                </a:solidFill>
                <a:latin typeface="Calibri" pitchFamily="34" charset="0"/>
                <a:cs typeface="Calibri" panose="020F0502020204030204" pitchFamily="34" charset="0"/>
              </a:endParaRPr>
            </a:p>
            <a:p>
              <a:pPr lvl="0" algn="ctr">
                <a:spcBef>
                  <a:spcPts val="0"/>
                </a:spcBef>
                <a:spcAft>
                  <a:spcPts val="0"/>
                </a:spcAft>
              </a:pPr>
              <a:r>
                <a:rPr lang="en-US" sz="4900" baseline="0">
                  <a:solidFill>
                    <a:schemeClr val="bg1">
                      <a:lumMod val="50000"/>
                    </a:schemeClr>
                  </a:solidFill>
                  <a:latin typeface="Calibri" pitchFamily="34" charset="0"/>
                  <a:cs typeface="Calibri" panose="020F0502020204030204" pitchFamily="34" charset="0"/>
                </a:rPr>
                <a:t>US and Canada:  1-800-790-4001</a:t>
              </a:r>
              <a:br>
                <a:rPr lang="en-US" sz="4900" baseline="0">
                  <a:solidFill>
                    <a:schemeClr val="bg1">
                      <a:lumMod val="50000"/>
                    </a:schemeClr>
                  </a:solidFill>
                  <a:latin typeface="Calibri" pitchFamily="34" charset="0"/>
                  <a:cs typeface="Calibri" panose="020F0502020204030204" pitchFamily="34" charset="0"/>
                </a:rPr>
              </a:br>
              <a:r>
                <a:rPr lang="en-US" sz="4900" baseline="0">
                  <a:solidFill>
                    <a:schemeClr val="bg1">
                      <a:lumMod val="50000"/>
                    </a:schemeClr>
                  </a:solidFill>
                  <a:latin typeface="Calibri" pitchFamily="34" charset="0"/>
                  <a:cs typeface="Calibri" panose="020F0502020204030204" pitchFamily="34" charset="0"/>
                </a:rPr>
                <a:t>Email: info@genigraphics.com</a:t>
              </a:r>
            </a:p>
            <a:p>
              <a:pPr lvl="0" algn="ctr">
                <a:spcBef>
                  <a:spcPts val="0"/>
                </a:spcBef>
                <a:spcAft>
                  <a:spcPts val="0"/>
                </a:spcAft>
              </a:pPr>
              <a:br>
                <a:rPr lang="en-US" sz="3600">
                  <a:solidFill>
                    <a:schemeClr val="bg1">
                      <a:lumMod val="50000"/>
                    </a:schemeClr>
                  </a:solidFill>
                  <a:latin typeface="Calibri" pitchFamily="34" charset="0"/>
                  <a:cs typeface="Calibri" panose="020F0502020204030204" pitchFamily="34" charset="0"/>
                </a:rPr>
              </a:br>
              <a:r>
                <a:rPr lang="en-US" sz="3600">
                  <a:solidFill>
                    <a:schemeClr val="bg1">
                      <a:lumMod val="50000"/>
                    </a:schemeClr>
                  </a:solidFill>
                  <a:latin typeface="Calibri" pitchFamily="34" charset="0"/>
                  <a:cs typeface="Calibri" panose="020F0502020204030204" pitchFamily="34" charset="0"/>
                </a:rPr>
                <a:t>[This sidebar area does not print.]</a:t>
              </a:r>
            </a:p>
          </p:txBody>
        </p:sp>
        <p:pic>
          <p:nvPicPr>
            <p:cNvPr id="14" name="Picture 1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281342" y="9260274"/>
              <a:ext cx="11904515" cy="10246926"/>
            </a:xfrm>
            <a:prstGeom prst="rect">
              <a:avLst/>
            </a:prstGeom>
          </p:spPr>
        </p:pic>
      </p:grpSp>
    </p:spTree>
    <p:extLst>
      <p:ext uri="{BB962C8B-B14F-4D97-AF65-F5344CB8AC3E}">
        <p14:creationId xmlns:p14="http://schemas.microsoft.com/office/powerpoint/2010/main" val="38129448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85D6BDF-9D0E-4E2B-85B8-D8F4790360C9}" type="datetimeFigureOut">
              <a:rPr lang="en-US" smtClean="0"/>
              <a:t>7/26/24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BB075EA-769C-4ECD-B48E-D6FCDC24F876}" type="slidenum">
              <a:rPr lang="en-US" smtClean="0"/>
              <a:t>‹#›</a:t>
            </a:fld>
            <a:endParaRPr lang="en-US"/>
          </a:p>
        </p:txBody>
      </p:sp>
    </p:spTree>
    <p:extLst>
      <p:ext uri="{BB962C8B-B14F-4D97-AF65-F5344CB8AC3E}">
        <p14:creationId xmlns:p14="http://schemas.microsoft.com/office/powerpoint/2010/main" val="293166510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194560" y="1318262"/>
            <a:ext cx="39502080" cy="5486400"/>
          </a:xfrm>
          <a:prstGeom prst="rect">
            <a:avLst/>
          </a:prstGeom>
        </p:spPr>
        <p:txBody>
          <a:bodyPr vert="horz" lIns="329128" tIns="164564" rIns="329128" bIns="164564" rtlCol="0" anchor="ctr">
            <a:normAutofit/>
          </a:bodyPr>
          <a:lstStyle/>
          <a:p>
            <a:r>
              <a:rPr lang="en-US"/>
              <a:t>Click to edit Master title style</a:t>
            </a:r>
          </a:p>
        </p:txBody>
      </p:sp>
      <p:sp>
        <p:nvSpPr>
          <p:cNvPr id="3" name="Text Placeholder 2"/>
          <p:cNvSpPr>
            <a:spLocks noGrp="1"/>
          </p:cNvSpPr>
          <p:nvPr>
            <p:ph type="body" idx="1"/>
          </p:nvPr>
        </p:nvSpPr>
        <p:spPr>
          <a:xfrm>
            <a:off x="2194560" y="7680963"/>
            <a:ext cx="39502080" cy="21724623"/>
          </a:xfrm>
          <a:prstGeom prst="rect">
            <a:avLst/>
          </a:prstGeom>
        </p:spPr>
        <p:txBody>
          <a:bodyPr vert="horz" lIns="329128" tIns="164564" rIns="329128" bIns="164564"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2194560" y="30510483"/>
            <a:ext cx="10241280" cy="1752600"/>
          </a:xfrm>
          <a:prstGeom prst="rect">
            <a:avLst/>
          </a:prstGeom>
        </p:spPr>
        <p:txBody>
          <a:bodyPr vert="horz" lIns="329128" tIns="164564" rIns="329128" bIns="164564" rtlCol="0" anchor="ctr"/>
          <a:lstStyle>
            <a:lvl1pPr algn="l">
              <a:defRPr sz="4400">
                <a:solidFill>
                  <a:schemeClr val="tx1">
                    <a:tint val="75000"/>
                  </a:schemeClr>
                </a:solidFill>
              </a:defRPr>
            </a:lvl1pPr>
          </a:lstStyle>
          <a:p>
            <a:fld id="{985D6BDF-9D0E-4E2B-85B8-D8F4790360C9}" type="datetimeFigureOut">
              <a:rPr lang="en-US" smtClean="0"/>
              <a:t>7/26/24</a:t>
            </a:fld>
            <a:endParaRPr lang="en-US"/>
          </a:p>
        </p:txBody>
      </p:sp>
      <p:sp>
        <p:nvSpPr>
          <p:cNvPr id="5" name="Footer Placeholder 4"/>
          <p:cNvSpPr>
            <a:spLocks noGrp="1"/>
          </p:cNvSpPr>
          <p:nvPr>
            <p:ph type="ftr" sz="quarter" idx="3"/>
          </p:nvPr>
        </p:nvSpPr>
        <p:spPr>
          <a:xfrm>
            <a:off x="14996160" y="30510483"/>
            <a:ext cx="13898880" cy="1752600"/>
          </a:xfrm>
          <a:prstGeom prst="rect">
            <a:avLst/>
          </a:prstGeom>
        </p:spPr>
        <p:txBody>
          <a:bodyPr vert="horz" lIns="329128" tIns="164564" rIns="329128" bIns="164564" rtlCol="0" anchor="ctr"/>
          <a:lstStyle>
            <a:lvl1pPr algn="ctr">
              <a:defRPr sz="44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31455360" y="30510483"/>
            <a:ext cx="10241280" cy="1752600"/>
          </a:xfrm>
          <a:prstGeom prst="rect">
            <a:avLst/>
          </a:prstGeom>
        </p:spPr>
        <p:txBody>
          <a:bodyPr vert="horz" lIns="329128" tIns="164564" rIns="329128" bIns="164564" rtlCol="0" anchor="ctr"/>
          <a:lstStyle>
            <a:lvl1pPr algn="r">
              <a:defRPr sz="4400">
                <a:solidFill>
                  <a:schemeClr val="tx1">
                    <a:tint val="75000"/>
                  </a:schemeClr>
                </a:solidFill>
              </a:defRPr>
            </a:lvl1pPr>
          </a:lstStyle>
          <a:p>
            <a:fld id="{FBB075EA-769C-4ECD-B48E-D6FCDC24F876}" type="slidenum">
              <a:rPr lang="en-US" smtClean="0"/>
              <a:t>‹#›</a:t>
            </a:fld>
            <a:endParaRPr lang="en-US"/>
          </a:p>
        </p:txBody>
      </p:sp>
    </p:spTree>
    <p:extLst>
      <p:ext uri="{BB962C8B-B14F-4D97-AF65-F5344CB8AC3E}">
        <p14:creationId xmlns:p14="http://schemas.microsoft.com/office/powerpoint/2010/main" val="72322184"/>
      </p:ext>
    </p:extLst>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ctr" defTabSz="3291279" rtl="0" eaLnBrk="1" latinLnBrk="0" hangingPunct="1">
        <a:spcBef>
          <a:spcPct val="0"/>
        </a:spcBef>
        <a:buNone/>
        <a:defRPr sz="6000" kern="1200">
          <a:solidFill>
            <a:schemeClr val="tx1"/>
          </a:solidFill>
          <a:latin typeface="+mj-lt"/>
          <a:ea typeface="+mj-ea"/>
          <a:cs typeface="+mj-cs"/>
        </a:defRPr>
      </a:lvl1pPr>
    </p:titleStyle>
    <p:bodyStyle>
      <a:lvl1pPr marL="342842" indent="-342842" algn="l" defTabSz="3291279" rtl="0" eaLnBrk="1" latinLnBrk="0" hangingPunct="1">
        <a:spcBef>
          <a:spcPct val="20000"/>
        </a:spcBef>
        <a:buFont typeface="Arial" pitchFamily="34" charset="0"/>
        <a:buChar char="•"/>
        <a:defRPr sz="2700" kern="1200">
          <a:solidFill>
            <a:schemeClr val="tx1"/>
          </a:solidFill>
          <a:latin typeface="+mn-lt"/>
          <a:ea typeface="+mn-ea"/>
          <a:cs typeface="+mn-cs"/>
        </a:defRPr>
      </a:lvl1pPr>
      <a:lvl2pPr marL="685683" indent="-342842" algn="l" defTabSz="3291279" rtl="0" eaLnBrk="1" latinLnBrk="0" hangingPunct="1">
        <a:spcBef>
          <a:spcPct val="20000"/>
        </a:spcBef>
        <a:buFont typeface="Arial" pitchFamily="34" charset="0"/>
        <a:buChar char="–"/>
        <a:defRPr sz="2700" kern="1200">
          <a:solidFill>
            <a:schemeClr val="tx1"/>
          </a:solidFill>
          <a:latin typeface="+mn-lt"/>
          <a:ea typeface="+mn-ea"/>
          <a:cs typeface="+mn-cs"/>
        </a:defRPr>
      </a:lvl2pPr>
      <a:lvl3pPr marL="1028525" indent="-342842" algn="l" defTabSz="3291279" rtl="0" eaLnBrk="1" latinLnBrk="0" hangingPunct="1">
        <a:spcBef>
          <a:spcPct val="20000"/>
        </a:spcBef>
        <a:buFont typeface="Arial" pitchFamily="34" charset="0"/>
        <a:buChar char="•"/>
        <a:defRPr sz="2700" kern="1200">
          <a:solidFill>
            <a:schemeClr val="tx1"/>
          </a:solidFill>
          <a:latin typeface="+mn-lt"/>
          <a:ea typeface="+mn-ea"/>
          <a:cs typeface="+mn-cs"/>
        </a:defRPr>
      </a:lvl3pPr>
      <a:lvl4pPr marL="1371366" indent="-342842" algn="l" defTabSz="3291279" rtl="0" eaLnBrk="1" latinLnBrk="0" hangingPunct="1">
        <a:spcBef>
          <a:spcPct val="20000"/>
        </a:spcBef>
        <a:buFont typeface="Arial" pitchFamily="34" charset="0"/>
        <a:buChar char="–"/>
        <a:defRPr sz="2700" kern="1200">
          <a:solidFill>
            <a:schemeClr val="tx1"/>
          </a:solidFill>
          <a:latin typeface="+mn-lt"/>
          <a:ea typeface="+mn-ea"/>
          <a:cs typeface="+mn-cs"/>
        </a:defRPr>
      </a:lvl4pPr>
      <a:lvl5pPr marL="1714209" indent="-342842" algn="l" defTabSz="3291279" rtl="0" eaLnBrk="1" latinLnBrk="0" hangingPunct="1">
        <a:spcBef>
          <a:spcPct val="20000"/>
        </a:spcBef>
        <a:buFont typeface="Arial" pitchFamily="34" charset="0"/>
        <a:buChar char="»"/>
        <a:defRPr sz="2700" kern="1200">
          <a:solidFill>
            <a:schemeClr val="tx1"/>
          </a:solidFill>
          <a:latin typeface="+mn-lt"/>
          <a:ea typeface="+mn-ea"/>
          <a:cs typeface="+mn-cs"/>
        </a:defRPr>
      </a:lvl5pPr>
      <a:lvl6pPr marL="9051018" indent="-822820" algn="l" defTabSz="3291279" rtl="0" eaLnBrk="1" latinLnBrk="0" hangingPunct="1">
        <a:spcBef>
          <a:spcPct val="20000"/>
        </a:spcBef>
        <a:buFont typeface="Arial" pitchFamily="34" charset="0"/>
        <a:buChar char="•"/>
        <a:defRPr sz="7200" kern="1200">
          <a:solidFill>
            <a:schemeClr val="tx1"/>
          </a:solidFill>
          <a:latin typeface="+mn-lt"/>
          <a:ea typeface="+mn-ea"/>
          <a:cs typeface="+mn-cs"/>
        </a:defRPr>
      </a:lvl6pPr>
      <a:lvl7pPr marL="10696658" indent="-822820" algn="l" defTabSz="3291279" rtl="0" eaLnBrk="1" latinLnBrk="0" hangingPunct="1">
        <a:spcBef>
          <a:spcPct val="20000"/>
        </a:spcBef>
        <a:buFont typeface="Arial" pitchFamily="34" charset="0"/>
        <a:buChar char="•"/>
        <a:defRPr sz="7200" kern="1200">
          <a:solidFill>
            <a:schemeClr val="tx1"/>
          </a:solidFill>
          <a:latin typeface="+mn-lt"/>
          <a:ea typeface="+mn-ea"/>
          <a:cs typeface="+mn-cs"/>
        </a:defRPr>
      </a:lvl7pPr>
      <a:lvl8pPr marL="12342297" indent="-822820" algn="l" defTabSz="3291279" rtl="0" eaLnBrk="1" latinLnBrk="0" hangingPunct="1">
        <a:spcBef>
          <a:spcPct val="20000"/>
        </a:spcBef>
        <a:buFont typeface="Arial" pitchFamily="34" charset="0"/>
        <a:buChar char="•"/>
        <a:defRPr sz="7200" kern="1200">
          <a:solidFill>
            <a:schemeClr val="tx1"/>
          </a:solidFill>
          <a:latin typeface="+mn-lt"/>
          <a:ea typeface="+mn-ea"/>
          <a:cs typeface="+mn-cs"/>
        </a:defRPr>
      </a:lvl8pPr>
      <a:lvl9pPr marL="13987936" indent="-822820" algn="l" defTabSz="3291279" rtl="0" eaLnBrk="1" latinLnBrk="0" hangingPunct="1">
        <a:spcBef>
          <a:spcPct val="20000"/>
        </a:spcBef>
        <a:buFont typeface="Arial" pitchFamily="34" charset="0"/>
        <a:buChar char="•"/>
        <a:defRPr sz="7200" kern="1200">
          <a:solidFill>
            <a:schemeClr val="tx1"/>
          </a:solidFill>
          <a:latin typeface="+mn-lt"/>
          <a:ea typeface="+mn-ea"/>
          <a:cs typeface="+mn-cs"/>
        </a:defRPr>
      </a:lvl9pPr>
    </p:bodyStyle>
    <p:otherStyle>
      <a:defPPr>
        <a:defRPr lang="en-US"/>
      </a:defPPr>
      <a:lvl1pPr marL="0" algn="l" defTabSz="3291279" rtl="0" eaLnBrk="1" latinLnBrk="0" hangingPunct="1">
        <a:defRPr sz="6400" kern="1200">
          <a:solidFill>
            <a:schemeClr val="tx1"/>
          </a:solidFill>
          <a:latin typeface="+mn-lt"/>
          <a:ea typeface="+mn-ea"/>
          <a:cs typeface="+mn-cs"/>
        </a:defRPr>
      </a:lvl1pPr>
      <a:lvl2pPr marL="1645640" algn="l" defTabSz="3291279" rtl="0" eaLnBrk="1" latinLnBrk="0" hangingPunct="1">
        <a:defRPr sz="6400" kern="1200">
          <a:solidFill>
            <a:schemeClr val="tx1"/>
          </a:solidFill>
          <a:latin typeface="+mn-lt"/>
          <a:ea typeface="+mn-ea"/>
          <a:cs typeface="+mn-cs"/>
        </a:defRPr>
      </a:lvl2pPr>
      <a:lvl3pPr marL="3291279" algn="l" defTabSz="3291279" rtl="0" eaLnBrk="1" latinLnBrk="0" hangingPunct="1">
        <a:defRPr sz="6400" kern="1200">
          <a:solidFill>
            <a:schemeClr val="tx1"/>
          </a:solidFill>
          <a:latin typeface="+mn-lt"/>
          <a:ea typeface="+mn-ea"/>
          <a:cs typeface="+mn-cs"/>
        </a:defRPr>
      </a:lvl3pPr>
      <a:lvl4pPr marL="4936919" algn="l" defTabSz="3291279" rtl="0" eaLnBrk="1" latinLnBrk="0" hangingPunct="1">
        <a:defRPr sz="6400" kern="1200">
          <a:solidFill>
            <a:schemeClr val="tx1"/>
          </a:solidFill>
          <a:latin typeface="+mn-lt"/>
          <a:ea typeface="+mn-ea"/>
          <a:cs typeface="+mn-cs"/>
        </a:defRPr>
      </a:lvl4pPr>
      <a:lvl5pPr marL="6582559" algn="l" defTabSz="3291279" rtl="0" eaLnBrk="1" latinLnBrk="0" hangingPunct="1">
        <a:defRPr sz="6400" kern="1200">
          <a:solidFill>
            <a:schemeClr val="tx1"/>
          </a:solidFill>
          <a:latin typeface="+mn-lt"/>
          <a:ea typeface="+mn-ea"/>
          <a:cs typeface="+mn-cs"/>
        </a:defRPr>
      </a:lvl5pPr>
      <a:lvl6pPr marL="8228198" algn="l" defTabSz="3291279" rtl="0" eaLnBrk="1" latinLnBrk="0" hangingPunct="1">
        <a:defRPr sz="6400" kern="1200">
          <a:solidFill>
            <a:schemeClr val="tx1"/>
          </a:solidFill>
          <a:latin typeface="+mn-lt"/>
          <a:ea typeface="+mn-ea"/>
          <a:cs typeface="+mn-cs"/>
        </a:defRPr>
      </a:lvl6pPr>
      <a:lvl7pPr marL="9873837" algn="l" defTabSz="3291279" rtl="0" eaLnBrk="1" latinLnBrk="0" hangingPunct="1">
        <a:defRPr sz="6400" kern="1200">
          <a:solidFill>
            <a:schemeClr val="tx1"/>
          </a:solidFill>
          <a:latin typeface="+mn-lt"/>
          <a:ea typeface="+mn-ea"/>
          <a:cs typeface="+mn-cs"/>
        </a:defRPr>
      </a:lvl7pPr>
      <a:lvl8pPr marL="11519478" algn="l" defTabSz="3291279" rtl="0" eaLnBrk="1" latinLnBrk="0" hangingPunct="1">
        <a:defRPr sz="6400" kern="1200">
          <a:solidFill>
            <a:schemeClr val="tx1"/>
          </a:solidFill>
          <a:latin typeface="+mn-lt"/>
          <a:ea typeface="+mn-ea"/>
          <a:cs typeface="+mn-cs"/>
        </a:defRPr>
      </a:lvl8pPr>
      <a:lvl9pPr marL="13165118" algn="l" defTabSz="3291279" rtl="0" eaLnBrk="1" latinLnBrk="0" hangingPunct="1">
        <a:defRPr sz="6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0.png"/><Relationship Id="rId3" Type="http://schemas.microsoft.com/office/2018/10/relationships/comments" Target="../comments/modernComment_100_862F6096.xml"/><Relationship Id="rId7" Type="http://schemas.openxmlformats.org/officeDocument/2006/relationships/image" Target="../media/image5.png"/><Relationship Id="rId12" Type="http://schemas.openxmlformats.org/officeDocument/2006/relationships/image" Target="../media/image9.png"/><Relationship Id="rId2" Type="http://schemas.openxmlformats.org/officeDocument/2006/relationships/notesSlide" Target="../notesSlides/notesSlide1.xml"/><Relationship Id="rId16" Type="http://schemas.openxmlformats.org/officeDocument/2006/relationships/image" Target="../media/image13.png"/><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8.png"/><Relationship Id="rId5" Type="http://schemas.openxmlformats.org/officeDocument/2006/relationships/image" Target="../media/image3.png"/><Relationship Id="rId15" Type="http://schemas.openxmlformats.org/officeDocument/2006/relationships/image" Target="../media/image12.png"/><Relationship Id="rId10" Type="http://schemas.openxmlformats.org/officeDocument/2006/relationships/hyperlink" Target="https://doi.org/10.1016/j.jtho.2021.05.004" TargetMode="External"/><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40" name="Picture 16">
            <a:extLst>
              <a:ext uri="{FF2B5EF4-FFF2-40B4-BE49-F238E27FC236}">
                <a16:creationId xmlns:a16="http://schemas.microsoft.com/office/drawing/2014/main" id="{0E858ED8-3960-C57A-ED00-A830D19843A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269173" y="12791689"/>
            <a:ext cx="5660864" cy="5118041"/>
          </a:xfrm>
          <a:prstGeom prst="rect">
            <a:avLst/>
          </a:prstGeom>
          <a:noFill/>
          <a:extLst>
            <a:ext uri="{909E8E84-426E-40DD-AFC4-6F175D3DCCD1}">
              <a14:hiddenFill xmlns:a14="http://schemas.microsoft.com/office/drawing/2010/main">
                <a:solidFill>
                  <a:srgbClr val="FFFFFF"/>
                </a:solidFill>
              </a14:hiddenFill>
            </a:ext>
          </a:extLst>
        </p:spPr>
      </p:pic>
      <p:sp>
        <p:nvSpPr>
          <p:cNvPr id="43" name="Rectangle 42"/>
          <p:cNvSpPr/>
          <p:nvPr/>
        </p:nvSpPr>
        <p:spPr>
          <a:xfrm flipV="1">
            <a:off x="637258" y="5574986"/>
            <a:ext cx="42533143" cy="14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68568" tIns="34284" rIns="68568" bIns="34284" rtlCol="0" anchor="ctr"/>
          <a:lstStyle/>
          <a:p>
            <a:pPr algn="ctr"/>
            <a:endParaRPr lang="en-US"/>
          </a:p>
        </p:txBody>
      </p:sp>
      <p:sp>
        <p:nvSpPr>
          <p:cNvPr id="4" name="Text Box 122"/>
          <p:cNvSpPr txBox="1">
            <a:spLocks noChangeArrowheads="1"/>
          </p:cNvSpPr>
          <p:nvPr/>
        </p:nvSpPr>
        <p:spPr bwMode="auto">
          <a:xfrm>
            <a:off x="3581400" y="-6260"/>
            <a:ext cx="38053036" cy="36470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137137" tIns="342842" rIns="137137" bIns="342842" anchor="ctr" anchorCtr="0">
            <a:spAutoFit/>
          </a:bodyPr>
          <a:lstStyle>
            <a:lvl1pPr defTabSz="4389438" eaLnBrk="0" hangingPunct="0">
              <a:defRPr sz="2200">
                <a:solidFill>
                  <a:schemeClr val="tx1"/>
                </a:solidFill>
                <a:latin typeface="Arial" charset="0"/>
              </a:defRPr>
            </a:lvl1pPr>
            <a:lvl2pPr marL="742950" indent="-285750" defTabSz="4389438" eaLnBrk="0" hangingPunct="0">
              <a:defRPr sz="2200">
                <a:solidFill>
                  <a:schemeClr val="tx1"/>
                </a:solidFill>
                <a:latin typeface="Arial" charset="0"/>
              </a:defRPr>
            </a:lvl2pPr>
            <a:lvl3pPr marL="1143000" indent="-228600" defTabSz="4389438" eaLnBrk="0" hangingPunct="0">
              <a:defRPr sz="2200">
                <a:solidFill>
                  <a:schemeClr val="tx1"/>
                </a:solidFill>
                <a:latin typeface="Arial" charset="0"/>
              </a:defRPr>
            </a:lvl3pPr>
            <a:lvl4pPr marL="1600200" indent="-228600" defTabSz="4389438" eaLnBrk="0" hangingPunct="0">
              <a:defRPr sz="2200">
                <a:solidFill>
                  <a:schemeClr val="tx1"/>
                </a:solidFill>
                <a:latin typeface="Arial" charset="0"/>
              </a:defRPr>
            </a:lvl4pPr>
            <a:lvl5pPr marL="2057400" indent="-228600" defTabSz="4389438" eaLnBrk="0" hangingPunct="0">
              <a:defRPr sz="2200">
                <a:solidFill>
                  <a:schemeClr val="tx1"/>
                </a:solidFill>
                <a:latin typeface="Arial" charset="0"/>
              </a:defRPr>
            </a:lvl5pPr>
            <a:lvl6pPr marL="2514600" indent="-228600" defTabSz="4389438" eaLnBrk="0" fontAlgn="base" hangingPunct="0">
              <a:spcBef>
                <a:spcPct val="0"/>
              </a:spcBef>
              <a:spcAft>
                <a:spcPct val="0"/>
              </a:spcAft>
              <a:defRPr sz="2200">
                <a:solidFill>
                  <a:schemeClr val="tx1"/>
                </a:solidFill>
                <a:latin typeface="Arial" charset="0"/>
              </a:defRPr>
            </a:lvl6pPr>
            <a:lvl7pPr marL="2971800" indent="-228600" defTabSz="4389438" eaLnBrk="0" fontAlgn="base" hangingPunct="0">
              <a:spcBef>
                <a:spcPct val="0"/>
              </a:spcBef>
              <a:spcAft>
                <a:spcPct val="0"/>
              </a:spcAft>
              <a:defRPr sz="2200">
                <a:solidFill>
                  <a:schemeClr val="tx1"/>
                </a:solidFill>
                <a:latin typeface="Arial" charset="0"/>
              </a:defRPr>
            </a:lvl7pPr>
            <a:lvl8pPr marL="3429000" indent="-228600" defTabSz="4389438" eaLnBrk="0" fontAlgn="base" hangingPunct="0">
              <a:spcBef>
                <a:spcPct val="0"/>
              </a:spcBef>
              <a:spcAft>
                <a:spcPct val="0"/>
              </a:spcAft>
              <a:defRPr sz="2200">
                <a:solidFill>
                  <a:schemeClr val="tx1"/>
                </a:solidFill>
                <a:latin typeface="Arial" charset="0"/>
              </a:defRPr>
            </a:lvl8pPr>
            <a:lvl9pPr marL="3886200" indent="-228600" defTabSz="4389438" eaLnBrk="0" fontAlgn="base" hangingPunct="0">
              <a:spcBef>
                <a:spcPct val="0"/>
              </a:spcBef>
              <a:spcAft>
                <a:spcPct val="0"/>
              </a:spcAft>
              <a:defRPr sz="2200">
                <a:solidFill>
                  <a:schemeClr val="tx1"/>
                </a:solidFill>
                <a:latin typeface="Arial" charset="0"/>
              </a:defRPr>
            </a:lvl9pPr>
          </a:lstStyle>
          <a:p>
            <a:pPr algn="ctr" eaLnBrk="1" hangingPunct="1"/>
            <a:r>
              <a:rPr lang="en-US" sz="9600" b="1">
                <a:solidFill>
                  <a:schemeClr val="accent1"/>
                </a:solidFill>
                <a:latin typeface="Myriad Pro" panose="020B0503030403020204" pitchFamily="34" charset="0"/>
                <a:cs typeface="Helvetica" panose="020B0604020202020204" pitchFamily="34" charset="0"/>
              </a:rPr>
              <a:t>Unsupervised Learning Methods for Investigating Feature Associations in Lung Cancer Data </a:t>
            </a:r>
          </a:p>
        </p:txBody>
      </p:sp>
      <p:sp>
        <p:nvSpPr>
          <p:cNvPr id="5" name="Text Box 123"/>
          <p:cNvSpPr txBox="1">
            <a:spLocks noChangeArrowheads="1"/>
          </p:cNvSpPr>
          <p:nvPr/>
        </p:nvSpPr>
        <p:spPr bwMode="auto">
          <a:xfrm>
            <a:off x="4114800" y="3534371"/>
            <a:ext cx="38053036" cy="1714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37137" tIns="137137" rIns="137137" bIns="137137" anchor="ctr" anchorCtr="0"/>
          <a:lstStyle>
            <a:lvl1pPr defTabSz="4389438" eaLnBrk="0" hangingPunct="0">
              <a:defRPr sz="2200">
                <a:solidFill>
                  <a:schemeClr val="tx1"/>
                </a:solidFill>
                <a:latin typeface="Arial" charset="0"/>
              </a:defRPr>
            </a:lvl1pPr>
            <a:lvl2pPr marL="742950" indent="-285750" defTabSz="4389438" eaLnBrk="0" hangingPunct="0">
              <a:defRPr sz="2200">
                <a:solidFill>
                  <a:schemeClr val="tx1"/>
                </a:solidFill>
                <a:latin typeface="Arial" charset="0"/>
              </a:defRPr>
            </a:lvl2pPr>
            <a:lvl3pPr marL="1143000" indent="-228600" defTabSz="4389438" eaLnBrk="0" hangingPunct="0">
              <a:defRPr sz="2200">
                <a:solidFill>
                  <a:schemeClr val="tx1"/>
                </a:solidFill>
                <a:latin typeface="Arial" charset="0"/>
              </a:defRPr>
            </a:lvl3pPr>
            <a:lvl4pPr marL="1600200" indent="-228600" defTabSz="4389438" eaLnBrk="0" hangingPunct="0">
              <a:defRPr sz="2200">
                <a:solidFill>
                  <a:schemeClr val="tx1"/>
                </a:solidFill>
                <a:latin typeface="Arial" charset="0"/>
              </a:defRPr>
            </a:lvl4pPr>
            <a:lvl5pPr marL="2057400" indent="-228600" defTabSz="4389438" eaLnBrk="0" hangingPunct="0">
              <a:defRPr sz="2200">
                <a:solidFill>
                  <a:schemeClr val="tx1"/>
                </a:solidFill>
                <a:latin typeface="Arial" charset="0"/>
              </a:defRPr>
            </a:lvl5pPr>
            <a:lvl6pPr marL="2514600" indent="-228600" defTabSz="4389438" eaLnBrk="0" fontAlgn="base" hangingPunct="0">
              <a:spcBef>
                <a:spcPct val="0"/>
              </a:spcBef>
              <a:spcAft>
                <a:spcPct val="0"/>
              </a:spcAft>
              <a:defRPr sz="2200">
                <a:solidFill>
                  <a:schemeClr val="tx1"/>
                </a:solidFill>
                <a:latin typeface="Arial" charset="0"/>
              </a:defRPr>
            </a:lvl6pPr>
            <a:lvl7pPr marL="2971800" indent="-228600" defTabSz="4389438" eaLnBrk="0" fontAlgn="base" hangingPunct="0">
              <a:spcBef>
                <a:spcPct val="0"/>
              </a:spcBef>
              <a:spcAft>
                <a:spcPct val="0"/>
              </a:spcAft>
              <a:defRPr sz="2200">
                <a:solidFill>
                  <a:schemeClr val="tx1"/>
                </a:solidFill>
                <a:latin typeface="Arial" charset="0"/>
              </a:defRPr>
            </a:lvl7pPr>
            <a:lvl8pPr marL="3429000" indent="-228600" defTabSz="4389438" eaLnBrk="0" fontAlgn="base" hangingPunct="0">
              <a:spcBef>
                <a:spcPct val="0"/>
              </a:spcBef>
              <a:spcAft>
                <a:spcPct val="0"/>
              </a:spcAft>
              <a:defRPr sz="2200">
                <a:solidFill>
                  <a:schemeClr val="tx1"/>
                </a:solidFill>
                <a:latin typeface="Arial" charset="0"/>
              </a:defRPr>
            </a:lvl8pPr>
            <a:lvl9pPr marL="3886200" indent="-228600" defTabSz="4389438" eaLnBrk="0" fontAlgn="base" hangingPunct="0">
              <a:spcBef>
                <a:spcPct val="0"/>
              </a:spcBef>
              <a:spcAft>
                <a:spcPct val="0"/>
              </a:spcAft>
              <a:defRPr sz="2200">
                <a:solidFill>
                  <a:schemeClr val="tx1"/>
                </a:solidFill>
                <a:latin typeface="Arial" charset="0"/>
              </a:defRPr>
            </a:lvl9pPr>
          </a:lstStyle>
          <a:p>
            <a:pPr algn="ctr" eaLnBrk="1" hangingPunct="1">
              <a:spcAft>
                <a:spcPts val="2400"/>
              </a:spcAft>
            </a:pPr>
            <a:r>
              <a:rPr lang="en-US" sz="6000" b="1">
                <a:latin typeface="Myriad Pro" panose="020B0503030403020204" pitchFamily="34" charset="0"/>
                <a:cs typeface="Helvetica" panose="020B0604020202020204" pitchFamily="34" charset="0"/>
              </a:rPr>
              <a:t>Clara Craiu</a:t>
            </a:r>
            <a:r>
              <a:rPr lang="en-US" sz="6000" b="1" baseline="30000">
                <a:latin typeface="Myriad Pro" panose="020B0503030403020204" pitchFamily="34" charset="0"/>
                <a:cs typeface="Helvetica" panose="020B0604020202020204" pitchFamily="34" charset="0"/>
              </a:rPr>
              <a:t>1</a:t>
            </a:r>
            <a:r>
              <a:rPr lang="en-US" sz="6000" b="1">
                <a:latin typeface="Myriad Pro" panose="020B0503030403020204" pitchFamily="34" charset="0"/>
                <a:cs typeface="Helvetica" panose="020B0604020202020204" pitchFamily="34" charset="0"/>
              </a:rPr>
              <a:t>, Cassandra Hung</a:t>
            </a:r>
            <a:r>
              <a:rPr lang="en-US" sz="6000" b="1" baseline="30000">
                <a:latin typeface="Myriad Pro" panose="020B0503030403020204" pitchFamily="34" charset="0"/>
                <a:cs typeface="Helvetica" panose="020B0604020202020204" pitchFamily="34" charset="0"/>
              </a:rPr>
              <a:t>2</a:t>
            </a:r>
            <a:r>
              <a:rPr lang="en-US" sz="6000" b="1">
                <a:latin typeface="Myriad Pro" panose="020B0503030403020204" pitchFamily="34" charset="0"/>
                <a:cs typeface="Helvetica" panose="020B0604020202020204" pitchFamily="34" charset="0"/>
              </a:rPr>
              <a:t>, Owen Yoo</a:t>
            </a:r>
            <a:r>
              <a:rPr lang="en-US" sz="6000" b="1" baseline="30000">
                <a:latin typeface="Myriad Pro" panose="020B0503030403020204" pitchFamily="34" charset="0"/>
                <a:cs typeface="Helvetica" panose="020B0604020202020204" pitchFamily="34" charset="0"/>
              </a:rPr>
              <a:t>3</a:t>
            </a:r>
          </a:p>
          <a:p>
            <a:pPr algn="ctr" eaLnBrk="1" hangingPunct="1">
              <a:spcAft>
                <a:spcPts val="2400"/>
              </a:spcAft>
            </a:pPr>
            <a:r>
              <a:rPr lang="en-CA" sz="4400" baseline="30000">
                <a:latin typeface="Myriad Pro" panose="020B0503030403020204" pitchFamily="34" charset="0"/>
                <a:cs typeface="Helvetica" panose="020B0604020202020204" pitchFamily="34" charset="0"/>
              </a:rPr>
              <a:t>1</a:t>
            </a:r>
            <a:r>
              <a:rPr lang="en-CA" sz="4400">
                <a:latin typeface="Myriad Pro" panose="020B0503030403020204" pitchFamily="34" charset="0"/>
                <a:cs typeface="Helvetica" panose="020B0604020202020204" pitchFamily="34" charset="0"/>
              </a:rPr>
              <a:t>McGill University, </a:t>
            </a:r>
            <a:r>
              <a:rPr lang="en-US" sz="4400" baseline="30000">
                <a:latin typeface="Myriad Pro" panose="020B0503030403020204" pitchFamily="34" charset="0"/>
                <a:cs typeface="Helvetica" panose="020B0604020202020204" pitchFamily="34" charset="0"/>
              </a:rPr>
              <a:t>2</a:t>
            </a:r>
            <a:r>
              <a:rPr lang="en-US" sz="4400">
                <a:latin typeface="Myriad Pro" panose="020B0503030403020204" pitchFamily="34" charset="0"/>
                <a:cs typeface="Helvetica" panose="020B0604020202020204" pitchFamily="34" charset="0"/>
              </a:rPr>
              <a:t>Wake Forest University, </a:t>
            </a:r>
            <a:r>
              <a:rPr lang="en-US" sz="4400" baseline="30000">
                <a:latin typeface="Myriad Pro" panose="020B0503030403020204" pitchFamily="34" charset="0"/>
                <a:cs typeface="Helvetica" panose="020B0604020202020204" pitchFamily="34" charset="0"/>
              </a:rPr>
              <a:t>3</a:t>
            </a:r>
            <a:r>
              <a:rPr lang="en-US" sz="4400">
                <a:latin typeface="Myriad Pro" panose="020B0503030403020204" pitchFamily="34" charset="0"/>
                <a:cs typeface="Helvetica" panose="020B0604020202020204" pitchFamily="34" charset="0"/>
              </a:rPr>
              <a:t>University of Michigan</a:t>
            </a:r>
            <a:endParaRPr lang="en-CA" sz="4400">
              <a:latin typeface="Myriad Pro" panose="020B0503030403020204" pitchFamily="34" charset="0"/>
              <a:cs typeface="Helvetica" panose="020B0604020202020204" pitchFamily="34" charset="0"/>
            </a:endParaRPr>
          </a:p>
        </p:txBody>
      </p:sp>
      <p:sp>
        <p:nvSpPr>
          <p:cNvPr id="10" name="Text Box 189"/>
          <p:cNvSpPr txBox="1">
            <a:spLocks noChangeArrowheads="1"/>
          </p:cNvSpPr>
          <p:nvPr/>
        </p:nvSpPr>
        <p:spPr bwMode="auto">
          <a:xfrm>
            <a:off x="615260" y="7623634"/>
            <a:ext cx="13941602" cy="4678157"/>
          </a:xfrm>
          <a:prstGeom prst="rect">
            <a:avLst/>
          </a:prstGeom>
          <a:solidFill>
            <a:schemeClr val="bg1"/>
          </a:solidFill>
          <a:ln w="12700">
            <a:noFill/>
          </a:ln>
          <a:effectLst/>
        </p:spPr>
        <p:txBody>
          <a:bodyPr wrap="square" lIns="137137" tIns="137137" rIns="137137" bIns="137137">
            <a:spAutoFit/>
          </a:bodyPr>
          <a:lstStyle>
            <a:lvl1pPr eaLnBrk="0" hangingPunct="0">
              <a:defRPr sz="2200">
                <a:solidFill>
                  <a:schemeClr val="tx1"/>
                </a:solidFill>
                <a:latin typeface="Arial" charset="0"/>
              </a:defRPr>
            </a:lvl1pPr>
            <a:lvl2pPr marL="742950" indent="-285750" eaLnBrk="0" hangingPunct="0">
              <a:defRPr sz="2200">
                <a:solidFill>
                  <a:schemeClr val="tx1"/>
                </a:solidFill>
                <a:latin typeface="Arial" charset="0"/>
              </a:defRPr>
            </a:lvl2pPr>
            <a:lvl3pPr marL="1143000" indent="-228600" eaLnBrk="0" hangingPunct="0">
              <a:defRPr sz="2200">
                <a:solidFill>
                  <a:schemeClr val="tx1"/>
                </a:solidFill>
                <a:latin typeface="Arial" charset="0"/>
              </a:defRPr>
            </a:lvl3pPr>
            <a:lvl4pPr marL="1600200" indent="-228600" eaLnBrk="0" hangingPunct="0">
              <a:defRPr sz="2200">
                <a:solidFill>
                  <a:schemeClr val="tx1"/>
                </a:solidFill>
                <a:latin typeface="Arial" charset="0"/>
              </a:defRPr>
            </a:lvl4pPr>
            <a:lvl5pPr marL="2057400" indent="-228600" eaLnBrk="0" hangingPunct="0">
              <a:defRPr sz="2200">
                <a:solidFill>
                  <a:schemeClr val="tx1"/>
                </a:solidFill>
                <a:latin typeface="Arial" charset="0"/>
              </a:defRPr>
            </a:lvl5pPr>
            <a:lvl6pPr marL="2514600" indent="-228600" eaLnBrk="0" fontAlgn="base" hangingPunct="0">
              <a:spcBef>
                <a:spcPct val="0"/>
              </a:spcBef>
              <a:spcAft>
                <a:spcPct val="0"/>
              </a:spcAft>
              <a:defRPr sz="2200">
                <a:solidFill>
                  <a:schemeClr val="tx1"/>
                </a:solidFill>
                <a:latin typeface="Arial" charset="0"/>
              </a:defRPr>
            </a:lvl6pPr>
            <a:lvl7pPr marL="2971800" indent="-228600" eaLnBrk="0" fontAlgn="base" hangingPunct="0">
              <a:spcBef>
                <a:spcPct val="0"/>
              </a:spcBef>
              <a:spcAft>
                <a:spcPct val="0"/>
              </a:spcAft>
              <a:defRPr sz="2200">
                <a:solidFill>
                  <a:schemeClr val="tx1"/>
                </a:solidFill>
                <a:latin typeface="Arial" charset="0"/>
              </a:defRPr>
            </a:lvl7pPr>
            <a:lvl8pPr marL="3429000" indent="-228600" eaLnBrk="0" fontAlgn="base" hangingPunct="0">
              <a:spcBef>
                <a:spcPct val="0"/>
              </a:spcBef>
              <a:spcAft>
                <a:spcPct val="0"/>
              </a:spcAft>
              <a:defRPr sz="2200">
                <a:solidFill>
                  <a:schemeClr val="tx1"/>
                </a:solidFill>
                <a:latin typeface="Arial" charset="0"/>
              </a:defRPr>
            </a:lvl8pPr>
            <a:lvl9pPr marL="3886200" indent="-228600" eaLnBrk="0" fontAlgn="base" hangingPunct="0">
              <a:spcBef>
                <a:spcPct val="0"/>
              </a:spcBef>
              <a:spcAft>
                <a:spcPct val="0"/>
              </a:spcAft>
              <a:defRPr sz="2200">
                <a:solidFill>
                  <a:schemeClr val="tx1"/>
                </a:solidFill>
                <a:latin typeface="Arial" charset="0"/>
              </a:defRPr>
            </a:lvl9pPr>
          </a:lstStyle>
          <a:p>
            <a:pPr marL="857250" indent="-857250" eaLnBrk="1" hangingPunct="1">
              <a:spcAft>
                <a:spcPts val="1800"/>
              </a:spcAft>
              <a:buFont typeface="Arial" panose="020B0604020202020204" pitchFamily="34" charset="0"/>
              <a:buChar char="•"/>
            </a:pPr>
            <a:r>
              <a:rPr lang="en-US" sz="3200">
                <a:latin typeface="Arial" panose="020B0604020202020204" pitchFamily="34" charset="0"/>
                <a:cs typeface="Arial" panose="020B0604020202020204" pitchFamily="34" charset="0"/>
              </a:rPr>
              <a:t>Recent work in the field of cancer data science has explored the use of spatial biomarkers within a tumor microenvironment (TME) to provide insights into patient characteristics and outcomes.</a:t>
            </a:r>
          </a:p>
          <a:p>
            <a:pPr marL="857250" indent="-857250" eaLnBrk="1" hangingPunct="1">
              <a:spcAft>
                <a:spcPts val="1800"/>
              </a:spcAft>
              <a:buFont typeface="Arial" panose="020B0604020202020204" pitchFamily="34" charset="0"/>
              <a:buChar char="•"/>
            </a:pPr>
            <a:r>
              <a:rPr lang="en-US" sz="3200">
                <a:latin typeface="Arial" panose="020B0604020202020204" pitchFamily="34" charset="0"/>
                <a:cs typeface="Arial" panose="020B0604020202020204" pitchFamily="34" charset="0"/>
              </a:rPr>
              <a:t>Multiplex imaging (MI) allows for the analysis of TMEs at single-cell resolution while preserving spatial relationships between cells. </a:t>
            </a:r>
          </a:p>
          <a:p>
            <a:pPr marL="857250" indent="-857250" eaLnBrk="1" hangingPunct="1">
              <a:spcAft>
                <a:spcPts val="1800"/>
              </a:spcAft>
              <a:buFont typeface="Arial" panose="020B0604020202020204" pitchFamily="34" charset="0"/>
              <a:buChar char="•"/>
            </a:pPr>
            <a:r>
              <a:rPr lang="en-US" sz="3200">
                <a:latin typeface="Arial" panose="020B0604020202020204" pitchFamily="34" charset="0"/>
                <a:cs typeface="Arial" panose="020B0604020202020204" pitchFamily="34" charset="0"/>
              </a:rPr>
              <a:t>Using MI, individual cells are tagged with fluorescent antibodies that attach to specific proteins on a cell’s surface. These markers allow cells to be classified by phenotype and function.</a:t>
            </a:r>
          </a:p>
        </p:txBody>
      </p:sp>
      <p:sp>
        <p:nvSpPr>
          <p:cNvPr id="32" name="Round Same Side Corner Rectangle 31"/>
          <p:cNvSpPr/>
          <p:nvPr/>
        </p:nvSpPr>
        <p:spPr>
          <a:xfrm>
            <a:off x="615260" y="5900059"/>
            <a:ext cx="13941602" cy="944650"/>
          </a:xfrm>
          <a:prstGeom prst="round2SameRect">
            <a:avLst/>
          </a:prstGeom>
          <a:solidFill>
            <a:schemeClr val="accent1"/>
          </a:solidFill>
          <a:ln w="12700"/>
          <a:effectLst/>
        </p:spPr>
        <p:style>
          <a:lnRef idx="2">
            <a:schemeClr val="accent1">
              <a:shade val="50000"/>
            </a:schemeClr>
          </a:lnRef>
          <a:fillRef idx="1">
            <a:schemeClr val="accent1"/>
          </a:fillRef>
          <a:effectRef idx="0">
            <a:schemeClr val="accent1"/>
          </a:effectRef>
          <a:fontRef idx="minor">
            <a:schemeClr val="lt1"/>
          </a:fontRef>
        </p:style>
        <p:txBody>
          <a:bodyPr lIns="68568" tIns="34284" rIns="68568" bIns="34284" rtlCol="0" anchor="ctr"/>
          <a:lstStyle/>
          <a:p>
            <a:pPr algn="ctr"/>
            <a:r>
              <a:rPr lang="en-US" sz="5400" b="1">
                <a:solidFill>
                  <a:schemeClr val="bg1">
                    <a:lumMod val="95000"/>
                  </a:schemeClr>
                </a:solidFill>
                <a:latin typeface="Myriad Pro" panose="020B0503030403020204" pitchFamily="34" charset="0"/>
              </a:rPr>
              <a:t>Background</a:t>
            </a:r>
          </a:p>
        </p:txBody>
      </p:sp>
      <p:sp>
        <p:nvSpPr>
          <p:cNvPr id="135" name="Round Same Side Corner Rectangle 134"/>
          <p:cNvSpPr/>
          <p:nvPr/>
        </p:nvSpPr>
        <p:spPr>
          <a:xfrm>
            <a:off x="615260" y="25418660"/>
            <a:ext cx="13942800" cy="765712"/>
          </a:xfrm>
          <a:prstGeom prst="round2SameRect">
            <a:avLst/>
          </a:prstGeom>
          <a:no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lIns="68568" tIns="34284" rIns="68568" bIns="34284" rtlCol="0" anchor="ctr"/>
          <a:lstStyle/>
          <a:p>
            <a:r>
              <a:rPr lang="en-US" sz="4800" b="1">
                <a:solidFill>
                  <a:schemeClr val="accent1"/>
                </a:solidFill>
                <a:latin typeface="Myriad Pro" panose="020B0503030403020204" pitchFamily="34" charset="0"/>
              </a:rPr>
              <a:t>Ripley’s K Function</a:t>
            </a:r>
          </a:p>
        </p:txBody>
      </p:sp>
      <p:sp>
        <p:nvSpPr>
          <p:cNvPr id="73" name="Round Same Side Corner Rectangle 72"/>
          <p:cNvSpPr/>
          <p:nvPr/>
        </p:nvSpPr>
        <p:spPr>
          <a:xfrm>
            <a:off x="615260" y="24398534"/>
            <a:ext cx="13941602" cy="944650"/>
          </a:xfrm>
          <a:prstGeom prst="round2SameRect">
            <a:avLst/>
          </a:prstGeom>
          <a:solidFill>
            <a:schemeClr val="accent1"/>
          </a:solidFill>
          <a:ln w="12700"/>
          <a:effectLst/>
        </p:spPr>
        <p:style>
          <a:lnRef idx="2">
            <a:schemeClr val="accent1">
              <a:shade val="50000"/>
            </a:schemeClr>
          </a:lnRef>
          <a:fillRef idx="1">
            <a:schemeClr val="accent1"/>
          </a:fillRef>
          <a:effectRef idx="0">
            <a:schemeClr val="accent1"/>
          </a:effectRef>
          <a:fontRef idx="minor">
            <a:schemeClr val="lt1"/>
          </a:fontRef>
        </p:style>
        <p:txBody>
          <a:bodyPr lIns="68568" tIns="34284" rIns="68568" bIns="34284" rtlCol="0" anchor="ctr"/>
          <a:lstStyle/>
          <a:p>
            <a:pPr algn="ctr"/>
            <a:r>
              <a:rPr lang="en-US" sz="5400" b="1">
                <a:solidFill>
                  <a:schemeClr val="bg1">
                    <a:lumMod val="95000"/>
                  </a:schemeClr>
                </a:solidFill>
                <a:latin typeface="Myriad Pro" panose="020B0503030403020204" pitchFamily="34" charset="0"/>
              </a:rPr>
              <a:t>Methods</a:t>
            </a:r>
          </a:p>
        </p:txBody>
      </p:sp>
      <p:sp>
        <p:nvSpPr>
          <p:cNvPr id="93" name="Round Same Side Corner Rectangle 92"/>
          <p:cNvSpPr/>
          <p:nvPr/>
        </p:nvSpPr>
        <p:spPr>
          <a:xfrm>
            <a:off x="29216834" y="24741073"/>
            <a:ext cx="13941602" cy="943200"/>
          </a:xfrm>
          <a:prstGeom prst="round2SameRect">
            <a:avLst/>
          </a:prstGeom>
          <a:solidFill>
            <a:schemeClr val="accent1"/>
          </a:solidFill>
          <a:ln w="12700"/>
          <a:effectLst/>
        </p:spPr>
        <p:style>
          <a:lnRef idx="2">
            <a:schemeClr val="accent1">
              <a:shade val="50000"/>
            </a:schemeClr>
          </a:lnRef>
          <a:fillRef idx="1">
            <a:schemeClr val="accent1"/>
          </a:fillRef>
          <a:effectRef idx="0">
            <a:schemeClr val="accent1"/>
          </a:effectRef>
          <a:fontRef idx="minor">
            <a:schemeClr val="lt1"/>
          </a:fontRef>
        </p:style>
        <p:txBody>
          <a:bodyPr lIns="68568" tIns="34284" rIns="68568" bIns="34284" rtlCol="0" anchor="ctr"/>
          <a:lstStyle/>
          <a:p>
            <a:pPr algn="ctr"/>
            <a:r>
              <a:rPr lang="en-US" sz="5400" b="1">
                <a:solidFill>
                  <a:schemeClr val="bg1">
                    <a:lumMod val="95000"/>
                  </a:schemeClr>
                </a:solidFill>
                <a:latin typeface="Myriad Pro" panose="020B0503030403020204" pitchFamily="34" charset="0"/>
              </a:rPr>
              <a:t>Future Research</a:t>
            </a:r>
          </a:p>
        </p:txBody>
      </p:sp>
      <p:sp>
        <p:nvSpPr>
          <p:cNvPr id="121" name="Round Same Side Corner Rectangle 120"/>
          <p:cNvSpPr/>
          <p:nvPr/>
        </p:nvSpPr>
        <p:spPr>
          <a:xfrm>
            <a:off x="14915448" y="5958925"/>
            <a:ext cx="13942800" cy="765712"/>
          </a:xfrm>
          <a:prstGeom prst="round2SameRect">
            <a:avLst/>
          </a:prstGeom>
          <a:no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lIns="68568" tIns="34284" rIns="68568" bIns="34284" rtlCol="0" anchor="ctr"/>
          <a:lstStyle/>
          <a:p>
            <a:r>
              <a:rPr lang="en-US" sz="4800" b="1">
                <a:solidFill>
                  <a:schemeClr val="accent1"/>
                </a:solidFill>
                <a:latin typeface="Myriad Pro" panose="020B0503030403020204" pitchFamily="34" charset="0"/>
              </a:rPr>
              <a:t>Hierarchical Clustering</a:t>
            </a:r>
          </a:p>
        </p:txBody>
      </p:sp>
      <p:sp>
        <p:nvSpPr>
          <p:cNvPr id="74" name="Text Box 189"/>
          <p:cNvSpPr txBox="1">
            <a:spLocks noChangeArrowheads="1"/>
          </p:cNvSpPr>
          <p:nvPr/>
        </p:nvSpPr>
        <p:spPr bwMode="auto">
          <a:xfrm>
            <a:off x="29373211" y="6986888"/>
            <a:ext cx="13941602" cy="4154937"/>
          </a:xfrm>
          <a:prstGeom prst="rect">
            <a:avLst/>
          </a:prstGeom>
          <a:solidFill>
            <a:schemeClr val="bg1"/>
          </a:solidFill>
          <a:ln w="12700">
            <a:noFill/>
          </a:ln>
          <a:effectLst/>
        </p:spPr>
        <p:txBody>
          <a:bodyPr wrap="square" lIns="137137" tIns="137137" rIns="137137" bIns="137137">
            <a:spAutoFit/>
          </a:bodyPr>
          <a:lstStyle>
            <a:lvl1pPr eaLnBrk="0" hangingPunct="0">
              <a:defRPr sz="2200">
                <a:solidFill>
                  <a:schemeClr val="tx1"/>
                </a:solidFill>
                <a:latin typeface="Arial" charset="0"/>
              </a:defRPr>
            </a:lvl1pPr>
            <a:lvl2pPr marL="742950" indent="-285750" eaLnBrk="0" hangingPunct="0">
              <a:defRPr sz="2200">
                <a:solidFill>
                  <a:schemeClr val="tx1"/>
                </a:solidFill>
                <a:latin typeface="Arial" charset="0"/>
              </a:defRPr>
            </a:lvl2pPr>
            <a:lvl3pPr marL="1143000" indent="-228600" eaLnBrk="0" hangingPunct="0">
              <a:defRPr sz="2200">
                <a:solidFill>
                  <a:schemeClr val="tx1"/>
                </a:solidFill>
                <a:latin typeface="Arial" charset="0"/>
              </a:defRPr>
            </a:lvl3pPr>
            <a:lvl4pPr marL="1600200" indent="-228600" eaLnBrk="0" hangingPunct="0">
              <a:defRPr sz="2200">
                <a:solidFill>
                  <a:schemeClr val="tx1"/>
                </a:solidFill>
                <a:latin typeface="Arial" charset="0"/>
              </a:defRPr>
            </a:lvl4pPr>
            <a:lvl5pPr marL="2057400" indent="-228600" eaLnBrk="0" hangingPunct="0">
              <a:defRPr sz="2200">
                <a:solidFill>
                  <a:schemeClr val="tx1"/>
                </a:solidFill>
                <a:latin typeface="Arial" charset="0"/>
              </a:defRPr>
            </a:lvl5pPr>
            <a:lvl6pPr marL="2514600" indent="-228600" eaLnBrk="0" fontAlgn="base" hangingPunct="0">
              <a:spcBef>
                <a:spcPct val="0"/>
              </a:spcBef>
              <a:spcAft>
                <a:spcPct val="0"/>
              </a:spcAft>
              <a:defRPr sz="2200">
                <a:solidFill>
                  <a:schemeClr val="tx1"/>
                </a:solidFill>
                <a:latin typeface="Arial" charset="0"/>
              </a:defRPr>
            </a:lvl6pPr>
            <a:lvl7pPr marL="2971800" indent="-228600" eaLnBrk="0" fontAlgn="base" hangingPunct="0">
              <a:spcBef>
                <a:spcPct val="0"/>
              </a:spcBef>
              <a:spcAft>
                <a:spcPct val="0"/>
              </a:spcAft>
              <a:defRPr sz="2200">
                <a:solidFill>
                  <a:schemeClr val="tx1"/>
                </a:solidFill>
                <a:latin typeface="Arial" charset="0"/>
              </a:defRPr>
            </a:lvl7pPr>
            <a:lvl8pPr marL="3429000" indent="-228600" eaLnBrk="0" fontAlgn="base" hangingPunct="0">
              <a:spcBef>
                <a:spcPct val="0"/>
              </a:spcBef>
              <a:spcAft>
                <a:spcPct val="0"/>
              </a:spcAft>
              <a:defRPr sz="2200">
                <a:solidFill>
                  <a:schemeClr val="tx1"/>
                </a:solidFill>
                <a:latin typeface="Arial" charset="0"/>
              </a:defRPr>
            </a:lvl8pPr>
            <a:lvl9pPr marL="3886200" indent="-228600" eaLnBrk="0" fontAlgn="base" hangingPunct="0">
              <a:spcBef>
                <a:spcPct val="0"/>
              </a:spcBef>
              <a:spcAft>
                <a:spcPct val="0"/>
              </a:spcAft>
              <a:defRPr sz="2200">
                <a:solidFill>
                  <a:schemeClr val="tx1"/>
                </a:solidFill>
                <a:latin typeface="Arial" charset="0"/>
              </a:defRPr>
            </a:lvl9pPr>
          </a:lstStyle>
          <a:p>
            <a:pPr marL="857250" indent="-857250" eaLnBrk="1" hangingPunct="1">
              <a:spcAft>
                <a:spcPts val="1800"/>
              </a:spcAft>
              <a:buFont typeface="Arial" panose="020B0604020202020204" pitchFamily="34" charset="0"/>
              <a:buChar char="•"/>
            </a:pPr>
            <a:r>
              <a:rPr lang="en-US" sz="3200">
                <a:latin typeface="Arial" panose="020B0604020202020204" pitchFamily="34" charset="0"/>
                <a:cs typeface="Arial" panose="020B0604020202020204" pitchFamily="34" charset="0"/>
              </a:rPr>
              <a:t>All clusters have no notable differences in demographic features. </a:t>
            </a:r>
          </a:p>
          <a:p>
            <a:pPr marL="857250" indent="-857250" eaLnBrk="1" hangingPunct="1">
              <a:spcAft>
                <a:spcPts val="1800"/>
              </a:spcAft>
              <a:buFont typeface="Arial" panose="020B0604020202020204" pitchFamily="34" charset="0"/>
              <a:buChar char="•"/>
            </a:pPr>
            <a:r>
              <a:rPr lang="en-US" sz="3200">
                <a:latin typeface="Arial" panose="020B0604020202020204" pitchFamily="34" charset="0"/>
                <a:cs typeface="Arial" panose="020B0604020202020204" pitchFamily="34" charset="0"/>
              </a:rPr>
              <a:t>Cluster 1 has a higher proportion of tumor cells.</a:t>
            </a:r>
          </a:p>
          <a:p>
            <a:pPr marL="857250" indent="-857250" eaLnBrk="1" hangingPunct="1">
              <a:spcAft>
                <a:spcPts val="1800"/>
              </a:spcAft>
              <a:buFont typeface="Arial" panose="020B0604020202020204" pitchFamily="34" charset="0"/>
              <a:buChar char="•"/>
            </a:pPr>
            <a:r>
              <a:rPr lang="en-US" sz="3200">
                <a:latin typeface="Arial" panose="020B0604020202020204" pitchFamily="34" charset="0"/>
                <a:cs typeface="Arial" panose="020B0604020202020204" pitchFamily="34" charset="0"/>
              </a:rPr>
              <a:t>Cluster 2 has less interaction between tumor and immune cells.</a:t>
            </a:r>
          </a:p>
          <a:p>
            <a:pPr marL="857250" indent="-857250" eaLnBrk="1" hangingPunct="1">
              <a:spcAft>
                <a:spcPts val="1800"/>
              </a:spcAft>
              <a:buFont typeface="Arial" panose="020B0604020202020204" pitchFamily="34" charset="0"/>
              <a:buChar char="•"/>
            </a:pPr>
            <a:r>
              <a:rPr lang="en-US" sz="3200">
                <a:latin typeface="Arial" panose="020B0604020202020204" pitchFamily="34" charset="0"/>
                <a:cs typeface="Arial" panose="020B0604020202020204" pitchFamily="34" charset="0"/>
              </a:rPr>
              <a:t>Cluster 4 has less interaction between cytotoxic T cells and both T helper cells and B cells.</a:t>
            </a:r>
          </a:p>
          <a:p>
            <a:pPr marL="857250" indent="-857250" eaLnBrk="1" hangingPunct="1">
              <a:spcAft>
                <a:spcPts val="1800"/>
              </a:spcAft>
              <a:buFont typeface="Arial" panose="020B0604020202020204" pitchFamily="34" charset="0"/>
              <a:buChar char="•"/>
            </a:pPr>
            <a:r>
              <a:rPr lang="en-US" sz="3200">
                <a:latin typeface="Arial" panose="020B0604020202020204" pitchFamily="34" charset="0"/>
                <a:cs typeface="Arial" panose="020B0604020202020204" pitchFamily="34" charset="0"/>
              </a:rPr>
              <a:t>Cluster 4 has a lower probability of patients experiencing recurrence. </a:t>
            </a:r>
          </a:p>
        </p:txBody>
      </p:sp>
      <p:pic>
        <p:nvPicPr>
          <p:cNvPr id="1026" name="Picture 2" descr="Heraldry of McGill University - Wikipedia">
            <a:extLst>
              <a:ext uri="{FF2B5EF4-FFF2-40B4-BE49-F238E27FC236}">
                <a16:creationId xmlns:a16="http://schemas.microsoft.com/office/drawing/2014/main" id="{44419F11-7985-DD87-D8FB-61F88C0E591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12144" y="1890781"/>
            <a:ext cx="2684520" cy="3601185"/>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2">
            <a:extLst>
              <a:ext uri="{FF2B5EF4-FFF2-40B4-BE49-F238E27FC236}">
                <a16:creationId xmlns:a16="http://schemas.microsoft.com/office/drawing/2014/main" id="{173800FB-F4C7-E5B0-6EC7-071758C6F4D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27161" y="2029975"/>
            <a:ext cx="3387639" cy="3387639"/>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Wake Forest University - Wikipedia">
            <a:extLst>
              <a:ext uri="{FF2B5EF4-FFF2-40B4-BE49-F238E27FC236}">
                <a16:creationId xmlns:a16="http://schemas.microsoft.com/office/drawing/2014/main" id="{8519D7D9-279D-8445-8D57-DC44E7C948F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994009" y="2059661"/>
            <a:ext cx="3387639" cy="3387639"/>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mc:Choice xmlns:a14="http://schemas.microsoft.com/office/drawing/2010/main" Requires="a14">
          <p:sp>
            <p:nvSpPr>
              <p:cNvPr id="8" name="Text Box 189">
                <a:extLst>
                  <a:ext uri="{FF2B5EF4-FFF2-40B4-BE49-F238E27FC236}">
                    <a16:creationId xmlns:a16="http://schemas.microsoft.com/office/drawing/2014/main" id="{124343D7-C7C3-DA61-C6AE-9ABAED79C278}"/>
                  </a:ext>
                </a:extLst>
              </p:cNvPr>
              <p:cNvSpPr txBox="1">
                <a:spLocks noChangeArrowheads="1"/>
              </p:cNvSpPr>
              <p:nvPr/>
            </p:nvSpPr>
            <p:spPr bwMode="auto">
              <a:xfrm>
                <a:off x="14915448" y="6615198"/>
                <a:ext cx="13941602" cy="5253058"/>
              </a:xfrm>
              <a:prstGeom prst="rect">
                <a:avLst/>
              </a:prstGeom>
              <a:noFill/>
              <a:ln w="12700">
                <a:noFill/>
              </a:ln>
              <a:effectLst/>
            </p:spPr>
            <p:txBody>
              <a:bodyPr wrap="square" lIns="137137" tIns="137137" rIns="137137" bIns="137137">
                <a:spAutoFit/>
              </a:bodyPr>
              <a:lstStyle>
                <a:lvl1pPr eaLnBrk="0" hangingPunct="0">
                  <a:defRPr sz="2200">
                    <a:solidFill>
                      <a:schemeClr val="tx1"/>
                    </a:solidFill>
                    <a:latin typeface="Arial" charset="0"/>
                  </a:defRPr>
                </a:lvl1pPr>
                <a:lvl2pPr marL="742950" indent="-285750" eaLnBrk="0" hangingPunct="0">
                  <a:defRPr sz="2200">
                    <a:solidFill>
                      <a:schemeClr val="tx1"/>
                    </a:solidFill>
                    <a:latin typeface="Arial" charset="0"/>
                  </a:defRPr>
                </a:lvl2pPr>
                <a:lvl3pPr marL="1143000" indent="-228600" eaLnBrk="0" hangingPunct="0">
                  <a:defRPr sz="2200">
                    <a:solidFill>
                      <a:schemeClr val="tx1"/>
                    </a:solidFill>
                    <a:latin typeface="Arial" charset="0"/>
                  </a:defRPr>
                </a:lvl3pPr>
                <a:lvl4pPr marL="1600200" indent="-228600" eaLnBrk="0" hangingPunct="0">
                  <a:defRPr sz="2200">
                    <a:solidFill>
                      <a:schemeClr val="tx1"/>
                    </a:solidFill>
                    <a:latin typeface="Arial" charset="0"/>
                  </a:defRPr>
                </a:lvl4pPr>
                <a:lvl5pPr marL="2057400" indent="-228600" eaLnBrk="0" hangingPunct="0">
                  <a:defRPr sz="2200">
                    <a:solidFill>
                      <a:schemeClr val="tx1"/>
                    </a:solidFill>
                    <a:latin typeface="Arial" charset="0"/>
                  </a:defRPr>
                </a:lvl5pPr>
                <a:lvl6pPr marL="2514600" indent="-228600" eaLnBrk="0" fontAlgn="base" hangingPunct="0">
                  <a:spcBef>
                    <a:spcPct val="0"/>
                  </a:spcBef>
                  <a:spcAft>
                    <a:spcPct val="0"/>
                  </a:spcAft>
                  <a:defRPr sz="2200">
                    <a:solidFill>
                      <a:schemeClr val="tx1"/>
                    </a:solidFill>
                    <a:latin typeface="Arial" charset="0"/>
                  </a:defRPr>
                </a:lvl6pPr>
                <a:lvl7pPr marL="2971800" indent="-228600" eaLnBrk="0" fontAlgn="base" hangingPunct="0">
                  <a:spcBef>
                    <a:spcPct val="0"/>
                  </a:spcBef>
                  <a:spcAft>
                    <a:spcPct val="0"/>
                  </a:spcAft>
                  <a:defRPr sz="2200">
                    <a:solidFill>
                      <a:schemeClr val="tx1"/>
                    </a:solidFill>
                    <a:latin typeface="Arial" charset="0"/>
                  </a:defRPr>
                </a:lvl7pPr>
                <a:lvl8pPr marL="3429000" indent="-228600" eaLnBrk="0" fontAlgn="base" hangingPunct="0">
                  <a:spcBef>
                    <a:spcPct val="0"/>
                  </a:spcBef>
                  <a:spcAft>
                    <a:spcPct val="0"/>
                  </a:spcAft>
                  <a:defRPr sz="2200">
                    <a:solidFill>
                      <a:schemeClr val="tx1"/>
                    </a:solidFill>
                    <a:latin typeface="Arial" charset="0"/>
                  </a:defRPr>
                </a:lvl8pPr>
                <a:lvl9pPr marL="3886200" indent="-228600" eaLnBrk="0" fontAlgn="base" hangingPunct="0">
                  <a:spcBef>
                    <a:spcPct val="0"/>
                  </a:spcBef>
                  <a:spcAft>
                    <a:spcPct val="0"/>
                  </a:spcAft>
                  <a:defRPr sz="2200">
                    <a:solidFill>
                      <a:schemeClr val="tx1"/>
                    </a:solidFill>
                    <a:latin typeface="Arial" charset="0"/>
                  </a:defRPr>
                </a:lvl9pPr>
              </a:lstStyle>
              <a:p>
                <a:pPr marL="857250" indent="-857250" eaLnBrk="1" hangingPunct="1">
                  <a:spcAft>
                    <a:spcPts val="1800"/>
                  </a:spcAft>
                  <a:buFont typeface="Arial" panose="020B0604020202020204" pitchFamily="34" charset="0"/>
                  <a:buChar char="•"/>
                </a:pPr>
                <a:r>
                  <a:rPr lang="en-US" sz="3200">
                    <a:latin typeface="Arial" panose="020B0604020202020204" pitchFamily="34" charset="0"/>
                    <a:cs typeface="Arial" panose="020B0604020202020204" pitchFamily="34" charset="0"/>
                  </a:rPr>
                  <a:t>Clustering method where data is categorized based on similarities defined by an algorithm and distance metric</a:t>
                </a:r>
              </a:p>
              <a:p>
                <a:pPr marL="857250" indent="-857250" eaLnBrk="1" hangingPunct="1">
                  <a:spcAft>
                    <a:spcPts val="1800"/>
                  </a:spcAft>
                  <a:buFont typeface="Arial" panose="020B0604020202020204" pitchFamily="34" charset="0"/>
                  <a:buChar char="•"/>
                </a:pPr>
                <a:r>
                  <a:rPr lang="en-US" sz="3200">
                    <a:latin typeface="Arial" panose="020B0604020202020204" pitchFamily="34" charset="0"/>
                    <a:cs typeface="Arial" panose="020B0604020202020204" pitchFamily="34" charset="0"/>
                  </a:rPr>
                  <a:t>Ward’s algorithm is an agglomerative method which aims to minimize the total error sum of square increase when clustering. In this case, all patients start in their own cluster and two clusters are merged based on the minimizing function.</a:t>
                </a:r>
                <a:r>
                  <a:rPr lang="en-US" sz="3200" baseline="30000">
                    <a:latin typeface="Arial" panose="020B0604020202020204" pitchFamily="34" charset="0"/>
                    <a:cs typeface="Arial" panose="020B0604020202020204" pitchFamily="34" charset="0"/>
                  </a:rPr>
                  <a:t> 2</a:t>
                </a:r>
                <a:endParaRPr lang="en-US" sz="3200" b="0">
                  <a:latin typeface="Arial" panose="020B0604020202020204" pitchFamily="34" charset="0"/>
                  <a:cs typeface="Arial" panose="020B0604020202020204" pitchFamily="34" charset="0"/>
                </a:endParaRPr>
              </a:p>
              <a:p>
                <a:pPr marL="857250" indent="-857250" eaLnBrk="1" hangingPunct="1">
                  <a:spcAft>
                    <a:spcPts val="1800"/>
                  </a:spcAft>
                  <a:buFont typeface="Arial" panose="020B0604020202020204" pitchFamily="34" charset="0"/>
                  <a:buChar char="•"/>
                </a:pPr>
                <a:r>
                  <a:rPr lang="en-US" sz="3200">
                    <a:latin typeface="Arial" panose="020B0604020202020204" pitchFamily="34" charset="0"/>
                    <a:cs typeface="Arial" panose="020B0604020202020204" pitchFamily="34" charset="0"/>
                  </a:rPr>
                  <a:t>Ward’s Minimizing Function:</a:t>
                </a:r>
                <a:r>
                  <a:rPr lang="en-US" sz="3200" b="0">
                    <a:latin typeface="Arial" panose="020B0604020202020204" pitchFamily="34" charset="0"/>
                    <a:cs typeface="Arial" panose="020B0604020202020204" pitchFamily="34" charset="0"/>
                  </a:rPr>
                  <a:t> </a:t>
                </a:r>
                <a14:m>
                  <m:oMath xmlns:m="http://schemas.openxmlformats.org/officeDocument/2006/math">
                    <m:r>
                      <m:rPr>
                        <m:sty m:val="p"/>
                      </m:rPr>
                      <a:rPr lang="en-US" sz="3200" b="0" i="0" smtClean="0">
                        <a:latin typeface="Cambria Math" panose="02040503050406030204" pitchFamily="18" charset="0"/>
                      </a:rPr>
                      <m:t>D</m:t>
                    </m:r>
                    <m:d>
                      <m:dPr>
                        <m:ctrlPr>
                          <a:rPr lang="en-US" sz="3200" b="0" i="1" smtClean="0">
                            <a:latin typeface="Cambria Math" panose="02040503050406030204" pitchFamily="18" charset="0"/>
                          </a:rPr>
                        </m:ctrlPr>
                      </m:dPr>
                      <m:e>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𝑐</m:t>
                            </m:r>
                          </m:e>
                          <m:sub>
                            <m:r>
                              <a:rPr lang="en-US" sz="3200" b="0" i="1" smtClean="0">
                                <a:latin typeface="Cambria Math" panose="02040503050406030204" pitchFamily="18" charset="0"/>
                              </a:rPr>
                              <m:t>1</m:t>
                            </m:r>
                          </m:sub>
                        </m:sSub>
                        <m:r>
                          <a:rPr lang="en-US" sz="3200" b="0" i="1" smtClean="0">
                            <a:latin typeface="Cambria Math" panose="02040503050406030204" pitchFamily="18" charset="0"/>
                          </a:rPr>
                          <m:t>,</m:t>
                        </m:r>
                        <m:sSub>
                          <m:sSubPr>
                            <m:ctrlPr>
                              <a:rPr lang="en-US" sz="3200" i="1">
                                <a:latin typeface="Cambria Math" panose="02040503050406030204" pitchFamily="18" charset="0"/>
                              </a:rPr>
                            </m:ctrlPr>
                          </m:sSubPr>
                          <m:e>
                            <m:r>
                              <a:rPr lang="en-US" sz="3200" i="1">
                                <a:latin typeface="Cambria Math" panose="02040503050406030204" pitchFamily="18" charset="0"/>
                              </a:rPr>
                              <m:t>𝑐</m:t>
                            </m:r>
                          </m:e>
                          <m:sub>
                            <m:r>
                              <a:rPr lang="en-US" sz="3200" b="0" i="1" smtClean="0">
                                <a:latin typeface="Cambria Math" panose="02040503050406030204" pitchFamily="18" charset="0"/>
                              </a:rPr>
                              <m:t>2</m:t>
                            </m:r>
                          </m:sub>
                        </m:sSub>
                      </m:e>
                    </m:d>
                    <m:r>
                      <a:rPr lang="en-US" sz="3200" b="0" i="1" smtClean="0">
                        <a:latin typeface="Cambria Math" panose="02040503050406030204" pitchFamily="18" charset="0"/>
                      </a:rPr>
                      <m:t>=</m:t>
                    </m:r>
                    <m:f>
                      <m:fPr>
                        <m:ctrlPr>
                          <a:rPr lang="en-US" sz="3200" b="0" i="1" smtClean="0">
                            <a:latin typeface="Cambria Math" panose="02040503050406030204" pitchFamily="18" charset="0"/>
                          </a:rPr>
                        </m:ctrlPr>
                      </m:fPr>
                      <m:num>
                        <m:r>
                          <a:rPr lang="en-US" sz="3200" b="0" i="1" smtClean="0">
                            <a:latin typeface="Cambria Math" panose="02040503050406030204" pitchFamily="18" charset="0"/>
                          </a:rPr>
                          <m:t>|</m:t>
                        </m:r>
                        <m:sSub>
                          <m:sSubPr>
                            <m:ctrlPr>
                              <a:rPr lang="en-US" sz="3200" i="1">
                                <a:latin typeface="Cambria Math" panose="02040503050406030204" pitchFamily="18" charset="0"/>
                              </a:rPr>
                            </m:ctrlPr>
                          </m:sSubPr>
                          <m:e>
                            <m:r>
                              <a:rPr lang="en-US" sz="3200" i="1">
                                <a:latin typeface="Cambria Math" panose="02040503050406030204" pitchFamily="18" charset="0"/>
                              </a:rPr>
                              <m:t>𝑐</m:t>
                            </m:r>
                          </m:e>
                          <m:sub>
                            <m:r>
                              <a:rPr lang="en-US" sz="3200" i="1">
                                <a:latin typeface="Cambria Math" panose="02040503050406030204" pitchFamily="18" charset="0"/>
                              </a:rPr>
                              <m:t>1</m:t>
                            </m:r>
                          </m:sub>
                        </m:sSub>
                        <m:r>
                          <a:rPr lang="en-US" sz="3200" b="0" i="1" smtClean="0">
                            <a:latin typeface="Cambria Math" panose="02040503050406030204" pitchFamily="18" charset="0"/>
                          </a:rPr>
                          <m:t>|</m:t>
                        </m:r>
                        <m:r>
                          <a:rPr lang="en-US" sz="3200" i="1">
                            <a:latin typeface="Cambria Math" panose="02040503050406030204" pitchFamily="18" charset="0"/>
                          </a:rPr>
                          <m:t>|</m:t>
                        </m:r>
                        <m:sSub>
                          <m:sSubPr>
                            <m:ctrlPr>
                              <a:rPr lang="en-US" sz="3200" i="1">
                                <a:latin typeface="Cambria Math" panose="02040503050406030204" pitchFamily="18" charset="0"/>
                              </a:rPr>
                            </m:ctrlPr>
                          </m:sSubPr>
                          <m:e>
                            <m:r>
                              <a:rPr lang="en-US" sz="3200" i="1">
                                <a:latin typeface="Cambria Math" panose="02040503050406030204" pitchFamily="18" charset="0"/>
                              </a:rPr>
                              <m:t>𝑐</m:t>
                            </m:r>
                          </m:e>
                          <m:sub>
                            <m:r>
                              <a:rPr lang="en-US" sz="3200" b="0" i="1" smtClean="0">
                                <a:latin typeface="Cambria Math" panose="02040503050406030204" pitchFamily="18" charset="0"/>
                              </a:rPr>
                              <m:t>2</m:t>
                            </m:r>
                          </m:sub>
                        </m:sSub>
                        <m:r>
                          <a:rPr lang="en-US" sz="3200" i="1">
                            <a:latin typeface="Cambria Math" panose="02040503050406030204" pitchFamily="18" charset="0"/>
                          </a:rPr>
                          <m:t>|</m:t>
                        </m:r>
                      </m:num>
                      <m:den>
                        <m:d>
                          <m:dPr>
                            <m:begChr m:val="|"/>
                            <m:endChr m:val="|"/>
                            <m:ctrlPr>
                              <a:rPr lang="en-US" sz="3200" i="1">
                                <a:latin typeface="Cambria Math" panose="02040503050406030204" pitchFamily="18" charset="0"/>
                              </a:rPr>
                            </m:ctrlPr>
                          </m:dPr>
                          <m:e>
                            <m:sSub>
                              <m:sSubPr>
                                <m:ctrlPr>
                                  <a:rPr lang="en-US" sz="3200" i="1">
                                    <a:latin typeface="Cambria Math" panose="02040503050406030204" pitchFamily="18" charset="0"/>
                                  </a:rPr>
                                </m:ctrlPr>
                              </m:sSubPr>
                              <m:e>
                                <m:r>
                                  <a:rPr lang="en-US" sz="3200" i="1">
                                    <a:latin typeface="Cambria Math" panose="02040503050406030204" pitchFamily="18" charset="0"/>
                                  </a:rPr>
                                  <m:t>𝑐</m:t>
                                </m:r>
                              </m:e>
                              <m:sub>
                                <m:r>
                                  <a:rPr lang="en-US" sz="3200" i="1">
                                    <a:latin typeface="Cambria Math" panose="02040503050406030204" pitchFamily="18" charset="0"/>
                                  </a:rPr>
                                  <m:t>1</m:t>
                                </m:r>
                              </m:sub>
                            </m:sSub>
                          </m:e>
                        </m:d>
                        <m:r>
                          <a:rPr lang="en-US" sz="3200" b="0" i="1" smtClean="0">
                            <a:latin typeface="Cambria Math" panose="02040503050406030204" pitchFamily="18" charset="0"/>
                          </a:rPr>
                          <m:t>+</m:t>
                        </m:r>
                        <m:r>
                          <a:rPr lang="en-US" sz="3200" i="1">
                            <a:latin typeface="Cambria Math" panose="02040503050406030204" pitchFamily="18" charset="0"/>
                          </a:rPr>
                          <m:t>|</m:t>
                        </m:r>
                        <m:sSub>
                          <m:sSubPr>
                            <m:ctrlPr>
                              <a:rPr lang="en-US" sz="3200" i="1">
                                <a:latin typeface="Cambria Math" panose="02040503050406030204" pitchFamily="18" charset="0"/>
                              </a:rPr>
                            </m:ctrlPr>
                          </m:sSubPr>
                          <m:e>
                            <m:r>
                              <a:rPr lang="en-US" sz="3200" i="1">
                                <a:latin typeface="Cambria Math" panose="02040503050406030204" pitchFamily="18" charset="0"/>
                              </a:rPr>
                              <m:t>𝑐</m:t>
                            </m:r>
                          </m:e>
                          <m:sub>
                            <m:r>
                              <a:rPr lang="en-US" sz="3200" i="1">
                                <a:latin typeface="Cambria Math" panose="02040503050406030204" pitchFamily="18" charset="0"/>
                              </a:rPr>
                              <m:t>2</m:t>
                            </m:r>
                          </m:sub>
                        </m:sSub>
                        <m:r>
                          <a:rPr lang="en-US" sz="3200" i="1">
                            <a:latin typeface="Cambria Math" panose="02040503050406030204" pitchFamily="18" charset="0"/>
                          </a:rPr>
                          <m:t>|</m:t>
                        </m:r>
                      </m:den>
                    </m:f>
                    <m:sSup>
                      <m:sSupPr>
                        <m:ctrlPr>
                          <a:rPr lang="en-US" sz="3200" i="1" smtClean="0">
                            <a:latin typeface="Cambria Math" panose="02040503050406030204" pitchFamily="18" charset="0"/>
                          </a:rPr>
                        </m:ctrlPr>
                      </m:sSupPr>
                      <m:e>
                        <m:r>
                          <a:rPr lang="en-US" sz="3200" i="1">
                            <a:latin typeface="Cambria Math" panose="02040503050406030204" pitchFamily="18" charset="0"/>
                          </a:rPr>
                          <m:t>𝑑</m:t>
                        </m:r>
                        <m:d>
                          <m:dPr>
                            <m:ctrlPr>
                              <a:rPr lang="en-US" sz="3200" i="1">
                                <a:latin typeface="Cambria Math" panose="02040503050406030204" pitchFamily="18" charset="0"/>
                              </a:rPr>
                            </m:ctrlPr>
                          </m:dPr>
                          <m:e>
                            <m:sSub>
                              <m:sSubPr>
                                <m:ctrlPr>
                                  <a:rPr lang="en-US" sz="3200" i="1">
                                    <a:latin typeface="Cambria Math" panose="02040503050406030204" pitchFamily="18" charset="0"/>
                                  </a:rPr>
                                </m:ctrlPr>
                              </m:sSubPr>
                              <m:e>
                                <m:r>
                                  <a:rPr lang="en-US" sz="3200" i="1">
                                    <a:latin typeface="Cambria Math" panose="02040503050406030204" pitchFamily="18" charset="0"/>
                                  </a:rPr>
                                  <m:t>𝜇</m:t>
                                </m:r>
                              </m:e>
                              <m:sub>
                                <m:sSub>
                                  <m:sSubPr>
                                    <m:ctrlPr>
                                      <a:rPr lang="en-US" sz="3200" i="1">
                                        <a:latin typeface="Cambria Math" panose="02040503050406030204" pitchFamily="18" charset="0"/>
                                      </a:rPr>
                                    </m:ctrlPr>
                                  </m:sSubPr>
                                  <m:e>
                                    <m:r>
                                      <a:rPr lang="en-US" sz="3200" i="1">
                                        <a:latin typeface="Cambria Math" panose="02040503050406030204" pitchFamily="18" charset="0"/>
                                      </a:rPr>
                                      <m:t>𝑐</m:t>
                                    </m:r>
                                  </m:e>
                                  <m:sub>
                                    <m:r>
                                      <a:rPr lang="en-US" sz="3200" i="1">
                                        <a:latin typeface="Cambria Math" panose="02040503050406030204" pitchFamily="18" charset="0"/>
                                      </a:rPr>
                                      <m:t>1</m:t>
                                    </m:r>
                                  </m:sub>
                                </m:sSub>
                              </m:sub>
                            </m:sSub>
                            <m:r>
                              <a:rPr lang="en-US" sz="3200" i="1">
                                <a:latin typeface="Cambria Math" panose="02040503050406030204" pitchFamily="18" charset="0"/>
                              </a:rPr>
                              <m:t>,</m:t>
                            </m:r>
                            <m:sSub>
                              <m:sSubPr>
                                <m:ctrlPr>
                                  <a:rPr lang="en-US" sz="3200" i="1">
                                    <a:latin typeface="Cambria Math" panose="02040503050406030204" pitchFamily="18" charset="0"/>
                                  </a:rPr>
                                </m:ctrlPr>
                              </m:sSubPr>
                              <m:e>
                                <m:r>
                                  <a:rPr lang="en-US" sz="3200" i="1">
                                    <a:latin typeface="Cambria Math" panose="02040503050406030204" pitchFamily="18" charset="0"/>
                                  </a:rPr>
                                  <m:t>𝜇</m:t>
                                </m:r>
                              </m:e>
                              <m:sub>
                                <m:sSub>
                                  <m:sSubPr>
                                    <m:ctrlPr>
                                      <a:rPr lang="en-US" sz="3200" i="1">
                                        <a:latin typeface="Cambria Math" panose="02040503050406030204" pitchFamily="18" charset="0"/>
                                      </a:rPr>
                                    </m:ctrlPr>
                                  </m:sSubPr>
                                  <m:e>
                                    <m:r>
                                      <a:rPr lang="en-US" sz="3200" i="1">
                                        <a:latin typeface="Cambria Math" panose="02040503050406030204" pitchFamily="18" charset="0"/>
                                      </a:rPr>
                                      <m:t>𝑐</m:t>
                                    </m:r>
                                  </m:e>
                                  <m:sub>
                                    <m:r>
                                      <a:rPr lang="en-US" sz="3200" i="1">
                                        <a:latin typeface="Cambria Math" panose="02040503050406030204" pitchFamily="18" charset="0"/>
                                      </a:rPr>
                                      <m:t>2</m:t>
                                    </m:r>
                                  </m:sub>
                                </m:sSub>
                              </m:sub>
                            </m:sSub>
                          </m:e>
                        </m:d>
                      </m:e>
                      <m:sup>
                        <m:r>
                          <a:rPr lang="en-US" sz="3200" i="1" smtClean="0">
                            <a:latin typeface="Cambria Math" panose="02040503050406030204" pitchFamily="18" charset="0"/>
                          </a:rPr>
                          <m:t>2</m:t>
                        </m:r>
                      </m:sup>
                    </m:sSup>
                  </m:oMath>
                </a14:m>
                <a:endParaRPr lang="en-US" sz="3200">
                  <a:latin typeface="Arial" panose="020B0604020202020204" pitchFamily="34" charset="0"/>
                  <a:cs typeface="Arial" panose="020B0604020202020204" pitchFamily="34" charset="0"/>
                </a:endParaRPr>
              </a:p>
              <a:p>
                <a:pPr eaLnBrk="1" hangingPunct="1">
                  <a:spcAft>
                    <a:spcPts val="1800"/>
                  </a:spcAft>
                </a:pPr>
                <a14:m>
                  <m:oMath xmlns:m="http://schemas.openxmlformats.org/officeDocument/2006/math">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𝑐</m:t>
                        </m:r>
                      </m:e>
                      <m:sub>
                        <m:r>
                          <a:rPr lang="en-US" sz="3200" b="0" i="1" smtClean="0">
                            <a:latin typeface="Cambria Math" panose="02040503050406030204" pitchFamily="18" charset="0"/>
                          </a:rPr>
                          <m:t>𝑛</m:t>
                        </m:r>
                      </m:sub>
                    </m:sSub>
                  </m:oMath>
                </a14:m>
                <a:r>
                  <a:rPr lang="en-US" sz="3200">
                    <a:latin typeface="Arial" panose="020B0604020202020204" pitchFamily="34" charset="0"/>
                    <a:cs typeface="Arial" panose="020B0604020202020204" pitchFamily="34" charset="0"/>
                  </a:rPr>
                  <a:t> is the cluster, </a:t>
                </a:r>
                <a14:m>
                  <m:oMath xmlns:m="http://schemas.openxmlformats.org/officeDocument/2006/math">
                    <m:r>
                      <a:rPr lang="en-US" sz="3200" b="0" i="1" smtClean="0">
                        <a:latin typeface="Cambria Math" panose="02040503050406030204" pitchFamily="18" charset="0"/>
                      </a:rPr>
                      <m:t>|</m:t>
                    </m:r>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𝑐</m:t>
                        </m:r>
                      </m:e>
                      <m:sub>
                        <m:r>
                          <a:rPr lang="en-US" sz="3200" b="0" i="1" smtClean="0">
                            <a:latin typeface="Cambria Math" panose="02040503050406030204" pitchFamily="18" charset="0"/>
                          </a:rPr>
                          <m:t>𝑛</m:t>
                        </m:r>
                      </m:sub>
                    </m:sSub>
                    <m:r>
                      <a:rPr lang="en-US" sz="3200" b="0" i="1" smtClean="0">
                        <a:latin typeface="Cambria Math" panose="02040503050406030204" pitchFamily="18" charset="0"/>
                      </a:rPr>
                      <m:t>|</m:t>
                    </m:r>
                  </m:oMath>
                </a14:m>
                <a:r>
                  <a:rPr lang="en-US" sz="3200">
                    <a:latin typeface="Arial" panose="020B0604020202020204" pitchFamily="34" charset="0"/>
                    <a:cs typeface="Arial" panose="020B0604020202020204" pitchFamily="34" charset="0"/>
                  </a:rPr>
                  <a:t> is the size of the cluster, </a:t>
                </a:r>
                <a14:m>
                  <m:oMath xmlns:m="http://schemas.openxmlformats.org/officeDocument/2006/math">
                    <m:sSub>
                      <m:sSubPr>
                        <m:ctrlPr>
                          <a:rPr lang="en-US" sz="3200" i="1">
                            <a:latin typeface="Cambria Math" panose="02040503050406030204" pitchFamily="18" charset="0"/>
                          </a:rPr>
                        </m:ctrlPr>
                      </m:sSubPr>
                      <m:e>
                        <m:r>
                          <a:rPr lang="en-US" sz="3200" i="1">
                            <a:latin typeface="Cambria Math" panose="02040503050406030204" pitchFamily="18" charset="0"/>
                          </a:rPr>
                          <m:t>𝜇</m:t>
                        </m:r>
                      </m:e>
                      <m:sub>
                        <m:sSub>
                          <m:sSubPr>
                            <m:ctrlPr>
                              <a:rPr lang="en-US" sz="3200" i="1">
                                <a:latin typeface="Cambria Math" panose="02040503050406030204" pitchFamily="18" charset="0"/>
                              </a:rPr>
                            </m:ctrlPr>
                          </m:sSubPr>
                          <m:e>
                            <m:r>
                              <a:rPr lang="en-US" sz="3200" i="1">
                                <a:latin typeface="Cambria Math" panose="02040503050406030204" pitchFamily="18" charset="0"/>
                              </a:rPr>
                              <m:t>𝑐</m:t>
                            </m:r>
                          </m:e>
                          <m:sub>
                            <m:r>
                              <a:rPr lang="en-US" sz="3200" b="0" i="1" smtClean="0">
                                <a:latin typeface="Cambria Math" panose="02040503050406030204" pitchFamily="18" charset="0"/>
                              </a:rPr>
                              <m:t>𝑛</m:t>
                            </m:r>
                          </m:sub>
                        </m:sSub>
                      </m:sub>
                    </m:sSub>
                  </m:oMath>
                </a14:m>
                <a:r>
                  <a:rPr lang="en-US" sz="3200">
                    <a:latin typeface="Arial" panose="020B0604020202020204" pitchFamily="34" charset="0"/>
                    <a:cs typeface="Arial" panose="020B0604020202020204" pitchFamily="34" charset="0"/>
                  </a:rPr>
                  <a:t> is the center of the cluster</a:t>
                </a:r>
              </a:p>
            </p:txBody>
          </p:sp>
        </mc:Choice>
        <mc:Fallback>
          <p:sp>
            <p:nvSpPr>
              <p:cNvPr id="8" name="Text Box 189">
                <a:extLst>
                  <a:ext uri="{FF2B5EF4-FFF2-40B4-BE49-F238E27FC236}">
                    <a16:creationId xmlns:a16="http://schemas.microsoft.com/office/drawing/2014/main" id="{124343D7-C7C3-DA61-C6AE-9ABAED79C278}"/>
                  </a:ext>
                </a:extLst>
              </p:cNvPr>
              <p:cNvSpPr txBox="1">
                <a:spLocks noRot="1" noChangeAspect="1" noMove="1" noResize="1" noEditPoints="1" noAdjustHandles="1" noChangeArrowheads="1" noChangeShapeType="1" noTextEdit="1"/>
              </p:cNvSpPr>
              <p:nvPr/>
            </p:nvSpPr>
            <p:spPr bwMode="auto">
              <a:xfrm>
                <a:off x="14915448" y="6615198"/>
                <a:ext cx="13941602" cy="5253058"/>
              </a:xfrm>
              <a:prstGeom prst="rect">
                <a:avLst/>
              </a:prstGeom>
              <a:blipFill>
                <a:blip r:embed="rId8"/>
                <a:stretch>
                  <a:fillRect l="-728" b="-241"/>
                </a:stretch>
              </a:blipFill>
              <a:ln w="12700">
                <a:noFill/>
              </a:ln>
              <a:effectLst/>
            </p:spPr>
            <p:txBody>
              <a:bodyPr/>
              <a:lstStyle/>
              <a:p>
                <a:r>
                  <a:rPr lang="en-US">
                    <a:noFill/>
                  </a:rPr>
                  <a:t> </a:t>
                </a:r>
              </a:p>
            </p:txBody>
          </p:sp>
        </mc:Fallback>
      </mc:AlternateContent>
      <p:sp>
        <p:nvSpPr>
          <p:cNvPr id="14" name="Text Box 189">
            <a:extLst>
              <a:ext uri="{FF2B5EF4-FFF2-40B4-BE49-F238E27FC236}">
                <a16:creationId xmlns:a16="http://schemas.microsoft.com/office/drawing/2014/main" id="{C9DC79BE-22F6-0253-3DE3-3806F613BF9D}"/>
              </a:ext>
            </a:extLst>
          </p:cNvPr>
          <p:cNvSpPr txBox="1">
            <a:spLocks noChangeArrowheads="1"/>
          </p:cNvSpPr>
          <p:nvPr/>
        </p:nvSpPr>
        <p:spPr bwMode="auto">
          <a:xfrm>
            <a:off x="29216834" y="25728783"/>
            <a:ext cx="13941602" cy="3693272"/>
          </a:xfrm>
          <a:prstGeom prst="rect">
            <a:avLst/>
          </a:prstGeom>
          <a:solidFill>
            <a:schemeClr val="bg1"/>
          </a:solidFill>
          <a:ln w="12700">
            <a:noFill/>
          </a:ln>
          <a:effectLst/>
        </p:spPr>
        <p:txBody>
          <a:bodyPr wrap="square" lIns="137137" tIns="137137" rIns="137137" bIns="137137">
            <a:spAutoFit/>
          </a:bodyPr>
          <a:lstStyle>
            <a:lvl1pPr eaLnBrk="0" hangingPunct="0">
              <a:defRPr sz="2200">
                <a:solidFill>
                  <a:schemeClr val="tx1"/>
                </a:solidFill>
                <a:latin typeface="Arial" charset="0"/>
              </a:defRPr>
            </a:lvl1pPr>
            <a:lvl2pPr marL="742950" indent="-285750" eaLnBrk="0" hangingPunct="0">
              <a:defRPr sz="2200">
                <a:solidFill>
                  <a:schemeClr val="tx1"/>
                </a:solidFill>
                <a:latin typeface="Arial" charset="0"/>
              </a:defRPr>
            </a:lvl2pPr>
            <a:lvl3pPr marL="1143000" indent="-228600" eaLnBrk="0" hangingPunct="0">
              <a:defRPr sz="2200">
                <a:solidFill>
                  <a:schemeClr val="tx1"/>
                </a:solidFill>
                <a:latin typeface="Arial" charset="0"/>
              </a:defRPr>
            </a:lvl3pPr>
            <a:lvl4pPr marL="1600200" indent="-228600" eaLnBrk="0" hangingPunct="0">
              <a:defRPr sz="2200">
                <a:solidFill>
                  <a:schemeClr val="tx1"/>
                </a:solidFill>
                <a:latin typeface="Arial" charset="0"/>
              </a:defRPr>
            </a:lvl4pPr>
            <a:lvl5pPr marL="2057400" indent="-228600" eaLnBrk="0" hangingPunct="0">
              <a:defRPr sz="2200">
                <a:solidFill>
                  <a:schemeClr val="tx1"/>
                </a:solidFill>
                <a:latin typeface="Arial" charset="0"/>
              </a:defRPr>
            </a:lvl5pPr>
            <a:lvl6pPr marL="2514600" indent="-228600" eaLnBrk="0" fontAlgn="base" hangingPunct="0">
              <a:spcBef>
                <a:spcPct val="0"/>
              </a:spcBef>
              <a:spcAft>
                <a:spcPct val="0"/>
              </a:spcAft>
              <a:defRPr sz="2200">
                <a:solidFill>
                  <a:schemeClr val="tx1"/>
                </a:solidFill>
                <a:latin typeface="Arial" charset="0"/>
              </a:defRPr>
            </a:lvl6pPr>
            <a:lvl7pPr marL="2971800" indent="-228600" eaLnBrk="0" fontAlgn="base" hangingPunct="0">
              <a:spcBef>
                <a:spcPct val="0"/>
              </a:spcBef>
              <a:spcAft>
                <a:spcPct val="0"/>
              </a:spcAft>
              <a:defRPr sz="2200">
                <a:solidFill>
                  <a:schemeClr val="tx1"/>
                </a:solidFill>
                <a:latin typeface="Arial" charset="0"/>
              </a:defRPr>
            </a:lvl7pPr>
            <a:lvl8pPr marL="3429000" indent="-228600" eaLnBrk="0" fontAlgn="base" hangingPunct="0">
              <a:spcBef>
                <a:spcPct val="0"/>
              </a:spcBef>
              <a:spcAft>
                <a:spcPct val="0"/>
              </a:spcAft>
              <a:defRPr sz="2200">
                <a:solidFill>
                  <a:schemeClr val="tx1"/>
                </a:solidFill>
                <a:latin typeface="Arial" charset="0"/>
              </a:defRPr>
            </a:lvl8pPr>
            <a:lvl9pPr marL="3886200" indent="-228600" eaLnBrk="0" fontAlgn="base" hangingPunct="0">
              <a:spcBef>
                <a:spcPct val="0"/>
              </a:spcBef>
              <a:spcAft>
                <a:spcPct val="0"/>
              </a:spcAft>
              <a:defRPr sz="2200">
                <a:solidFill>
                  <a:schemeClr val="tx1"/>
                </a:solidFill>
                <a:latin typeface="Arial" charset="0"/>
              </a:defRPr>
            </a:lvl9pPr>
          </a:lstStyle>
          <a:p>
            <a:pPr marL="857250" indent="-857250" eaLnBrk="1" hangingPunct="1">
              <a:spcAft>
                <a:spcPts val="1800"/>
              </a:spcAft>
              <a:buFont typeface="Arial" panose="020B0604020202020204" pitchFamily="34" charset="0"/>
              <a:buChar char="•"/>
            </a:pPr>
            <a:r>
              <a:rPr lang="en-US" sz="3200">
                <a:latin typeface="Arial" panose="020B0604020202020204" pitchFamily="34" charset="0"/>
                <a:cs typeface="Arial" panose="020B0604020202020204" pitchFamily="34" charset="0"/>
              </a:rPr>
              <a:t>Incorporate methods that allow multiple images for each patient to be used in the clustering algorithm.</a:t>
            </a:r>
          </a:p>
          <a:p>
            <a:pPr marL="857250" indent="-857250" eaLnBrk="1" hangingPunct="1">
              <a:spcAft>
                <a:spcPts val="1800"/>
              </a:spcAft>
              <a:buFont typeface="Arial" panose="020B0604020202020204" pitchFamily="34" charset="0"/>
              <a:buChar char="•"/>
            </a:pPr>
            <a:r>
              <a:rPr lang="en-US" sz="3200">
                <a:latin typeface="Arial" panose="020B0604020202020204" pitchFamily="34" charset="0"/>
                <a:cs typeface="Arial" panose="020B0604020202020204" pitchFamily="34" charset="0"/>
              </a:rPr>
              <a:t>Use other clustering methods and incorporate more and different features in the algorithm.</a:t>
            </a:r>
          </a:p>
          <a:p>
            <a:pPr marL="857250" indent="-857250" eaLnBrk="1" hangingPunct="1">
              <a:spcAft>
                <a:spcPts val="1800"/>
              </a:spcAft>
              <a:buFont typeface="Arial" panose="020B0604020202020204" pitchFamily="34" charset="0"/>
              <a:buChar char="•"/>
            </a:pPr>
            <a:r>
              <a:rPr lang="en-US" sz="3200">
                <a:latin typeface="Arial" panose="020B0604020202020204" pitchFamily="34" charset="0"/>
                <a:cs typeface="Arial" panose="020B0604020202020204" pitchFamily="34" charset="0"/>
              </a:rPr>
              <a:t>Further investigate the association between reduced cytotoxic T and T helper cells clustering with cancer recurrence.</a:t>
            </a:r>
          </a:p>
        </p:txBody>
      </p:sp>
      <p:sp>
        <p:nvSpPr>
          <p:cNvPr id="17" name="Text Box 189">
            <a:extLst>
              <a:ext uri="{FF2B5EF4-FFF2-40B4-BE49-F238E27FC236}">
                <a16:creationId xmlns:a16="http://schemas.microsoft.com/office/drawing/2014/main" id="{41BD1115-DD48-8BB7-D5A3-F4916F1A695A}"/>
              </a:ext>
            </a:extLst>
          </p:cNvPr>
          <p:cNvSpPr txBox="1">
            <a:spLocks noChangeArrowheads="1"/>
          </p:cNvSpPr>
          <p:nvPr/>
        </p:nvSpPr>
        <p:spPr bwMode="auto">
          <a:xfrm>
            <a:off x="14915448" y="22250400"/>
            <a:ext cx="13604606" cy="1754280"/>
          </a:xfrm>
          <a:prstGeom prst="rect">
            <a:avLst/>
          </a:prstGeom>
          <a:solidFill>
            <a:schemeClr val="bg1"/>
          </a:solidFill>
          <a:ln w="12700">
            <a:noFill/>
          </a:ln>
          <a:effectLst/>
        </p:spPr>
        <p:txBody>
          <a:bodyPr wrap="square" lIns="137137" tIns="137137" rIns="137137" bIns="137137">
            <a:spAutoFit/>
          </a:bodyPr>
          <a:lstStyle>
            <a:lvl1pPr eaLnBrk="0" hangingPunct="0">
              <a:defRPr sz="2200">
                <a:solidFill>
                  <a:schemeClr val="tx1"/>
                </a:solidFill>
                <a:latin typeface="Arial" charset="0"/>
              </a:defRPr>
            </a:lvl1pPr>
            <a:lvl2pPr marL="742950" indent="-285750" eaLnBrk="0" hangingPunct="0">
              <a:defRPr sz="2200">
                <a:solidFill>
                  <a:schemeClr val="tx1"/>
                </a:solidFill>
                <a:latin typeface="Arial" charset="0"/>
              </a:defRPr>
            </a:lvl2pPr>
            <a:lvl3pPr marL="1143000" indent="-228600" eaLnBrk="0" hangingPunct="0">
              <a:defRPr sz="2200">
                <a:solidFill>
                  <a:schemeClr val="tx1"/>
                </a:solidFill>
                <a:latin typeface="Arial" charset="0"/>
              </a:defRPr>
            </a:lvl3pPr>
            <a:lvl4pPr marL="1600200" indent="-228600" eaLnBrk="0" hangingPunct="0">
              <a:defRPr sz="2200">
                <a:solidFill>
                  <a:schemeClr val="tx1"/>
                </a:solidFill>
                <a:latin typeface="Arial" charset="0"/>
              </a:defRPr>
            </a:lvl4pPr>
            <a:lvl5pPr marL="2057400" indent="-228600" eaLnBrk="0" hangingPunct="0">
              <a:defRPr sz="2200">
                <a:solidFill>
                  <a:schemeClr val="tx1"/>
                </a:solidFill>
                <a:latin typeface="Arial" charset="0"/>
              </a:defRPr>
            </a:lvl5pPr>
            <a:lvl6pPr marL="2514600" indent="-228600" eaLnBrk="0" fontAlgn="base" hangingPunct="0">
              <a:spcBef>
                <a:spcPct val="0"/>
              </a:spcBef>
              <a:spcAft>
                <a:spcPct val="0"/>
              </a:spcAft>
              <a:defRPr sz="2200">
                <a:solidFill>
                  <a:schemeClr val="tx1"/>
                </a:solidFill>
                <a:latin typeface="Arial" charset="0"/>
              </a:defRPr>
            </a:lvl6pPr>
            <a:lvl7pPr marL="2971800" indent="-228600" eaLnBrk="0" fontAlgn="base" hangingPunct="0">
              <a:spcBef>
                <a:spcPct val="0"/>
              </a:spcBef>
              <a:spcAft>
                <a:spcPct val="0"/>
              </a:spcAft>
              <a:defRPr sz="2200">
                <a:solidFill>
                  <a:schemeClr val="tx1"/>
                </a:solidFill>
                <a:latin typeface="Arial" charset="0"/>
              </a:defRPr>
            </a:lvl7pPr>
            <a:lvl8pPr marL="3429000" indent="-228600" eaLnBrk="0" fontAlgn="base" hangingPunct="0">
              <a:spcBef>
                <a:spcPct val="0"/>
              </a:spcBef>
              <a:spcAft>
                <a:spcPct val="0"/>
              </a:spcAft>
              <a:defRPr sz="2200">
                <a:solidFill>
                  <a:schemeClr val="tx1"/>
                </a:solidFill>
                <a:latin typeface="Arial" charset="0"/>
              </a:defRPr>
            </a:lvl8pPr>
            <a:lvl9pPr marL="3886200" indent="-228600" eaLnBrk="0" fontAlgn="base" hangingPunct="0">
              <a:spcBef>
                <a:spcPct val="0"/>
              </a:spcBef>
              <a:spcAft>
                <a:spcPct val="0"/>
              </a:spcAft>
              <a:defRPr sz="2200">
                <a:solidFill>
                  <a:schemeClr val="tx1"/>
                </a:solidFill>
                <a:latin typeface="Arial" charset="0"/>
              </a:defRPr>
            </a:lvl9pPr>
          </a:lstStyle>
          <a:p>
            <a:pPr eaLnBrk="1" hangingPunct="1">
              <a:spcAft>
                <a:spcPts val="1800"/>
              </a:spcAft>
            </a:pPr>
            <a:r>
              <a:rPr lang="en-US" sz="3200" b="1">
                <a:latin typeface="Arial" panose="020B0604020202020204" pitchFamily="34" charset="0"/>
                <a:cs typeface="Arial" panose="020B0604020202020204" pitchFamily="34" charset="0"/>
              </a:rPr>
              <a:t>Figure 2: </a:t>
            </a:r>
            <a:r>
              <a:rPr lang="en-US" sz="3200">
                <a:latin typeface="Arial" panose="020B0604020202020204" pitchFamily="34" charset="0"/>
                <a:cs typeface="Arial" panose="020B0604020202020204" pitchFamily="34" charset="0"/>
              </a:rPr>
              <a:t>Dendrogram depicting the results of using hierarchical clustering to group patients by proportions of cell types and spatial biomarkers. Based on the dendrogram, four clusters were produced.</a:t>
            </a:r>
            <a:endParaRPr lang="en-US" sz="3200" b="1">
              <a:latin typeface="Arial" panose="020B0604020202020204" pitchFamily="34" charset="0"/>
              <a:cs typeface="Arial" panose="020B0604020202020204" pitchFamily="34" charset="0"/>
            </a:endParaRPr>
          </a:p>
        </p:txBody>
      </p:sp>
      <p:grpSp>
        <p:nvGrpSpPr>
          <p:cNvPr id="21" name="Group 20">
            <a:extLst>
              <a:ext uri="{FF2B5EF4-FFF2-40B4-BE49-F238E27FC236}">
                <a16:creationId xmlns:a16="http://schemas.microsoft.com/office/drawing/2014/main" id="{0944869A-FE3B-85CF-79B1-A2398ADB03C3}"/>
              </a:ext>
            </a:extLst>
          </p:cNvPr>
          <p:cNvGrpSpPr/>
          <p:nvPr/>
        </p:nvGrpSpPr>
        <p:grpSpPr>
          <a:xfrm>
            <a:off x="615260" y="26138625"/>
            <a:ext cx="13941602" cy="6617150"/>
            <a:chOff x="1094458" y="26138625"/>
            <a:chExt cx="13941602" cy="6617150"/>
          </a:xfrm>
        </p:grpSpPr>
        <p:sp>
          <p:nvSpPr>
            <p:cNvPr id="120" name="Text Box 189"/>
            <p:cNvSpPr txBox="1">
              <a:spLocks noChangeArrowheads="1"/>
            </p:cNvSpPr>
            <p:nvPr/>
          </p:nvSpPr>
          <p:spPr bwMode="auto">
            <a:xfrm>
              <a:off x="1094458" y="26138625"/>
              <a:ext cx="13941602" cy="6617150"/>
            </a:xfrm>
            <a:prstGeom prst="rect">
              <a:avLst/>
            </a:prstGeom>
            <a:solidFill>
              <a:schemeClr val="bg1"/>
            </a:solidFill>
            <a:ln w="12700">
              <a:noFill/>
            </a:ln>
            <a:effectLst/>
          </p:spPr>
          <p:txBody>
            <a:bodyPr wrap="square" lIns="137137" tIns="137137" rIns="137137" bIns="137137">
              <a:spAutoFit/>
            </a:bodyPr>
            <a:lstStyle>
              <a:lvl1pPr eaLnBrk="0" hangingPunct="0">
                <a:defRPr sz="2200">
                  <a:solidFill>
                    <a:schemeClr val="tx1"/>
                  </a:solidFill>
                  <a:latin typeface="Arial" charset="0"/>
                </a:defRPr>
              </a:lvl1pPr>
              <a:lvl2pPr marL="742950" indent="-285750" eaLnBrk="0" hangingPunct="0">
                <a:defRPr sz="2200">
                  <a:solidFill>
                    <a:schemeClr val="tx1"/>
                  </a:solidFill>
                  <a:latin typeface="Arial" charset="0"/>
                </a:defRPr>
              </a:lvl2pPr>
              <a:lvl3pPr marL="1143000" indent="-228600" eaLnBrk="0" hangingPunct="0">
                <a:defRPr sz="2200">
                  <a:solidFill>
                    <a:schemeClr val="tx1"/>
                  </a:solidFill>
                  <a:latin typeface="Arial" charset="0"/>
                </a:defRPr>
              </a:lvl3pPr>
              <a:lvl4pPr marL="1600200" indent="-228600" eaLnBrk="0" hangingPunct="0">
                <a:defRPr sz="2200">
                  <a:solidFill>
                    <a:schemeClr val="tx1"/>
                  </a:solidFill>
                  <a:latin typeface="Arial" charset="0"/>
                </a:defRPr>
              </a:lvl4pPr>
              <a:lvl5pPr marL="2057400" indent="-228600" eaLnBrk="0" hangingPunct="0">
                <a:defRPr sz="2200">
                  <a:solidFill>
                    <a:schemeClr val="tx1"/>
                  </a:solidFill>
                  <a:latin typeface="Arial" charset="0"/>
                </a:defRPr>
              </a:lvl5pPr>
              <a:lvl6pPr marL="2514600" indent="-228600" eaLnBrk="0" fontAlgn="base" hangingPunct="0">
                <a:spcBef>
                  <a:spcPct val="0"/>
                </a:spcBef>
                <a:spcAft>
                  <a:spcPct val="0"/>
                </a:spcAft>
                <a:defRPr sz="2200">
                  <a:solidFill>
                    <a:schemeClr val="tx1"/>
                  </a:solidFill>
                  <a:latin typeface="Arial" charset="0"/>
                </a:defRPr>
              </a:lvl6pPr>
              <a:lvl7pPr marL="2971800" indent="-228600" eaLnBrk="0" fontAlgn="base" hangingPunct="0">
                <a:spcBef>
                  <a:spcPct val="0"/>
                </a:spcBef>
                <a:spcAft>
                  <a:spcPct val="0"/>
                </a:spcAft>
                <a:defRPr sz="2200">
                  <a:solidFill>
                    <a:schemeClr val="tx1"/>
                  </a:solidFill>
                  <a:latin typeface="Arial" charset="0"/>
                </a:defRPr>
              </a:lvl7pPr>
              <a:lvl8pPr marL="3429000" indent="-228600" eaLnBrk="0" fontAlgn="base" hangingPunct="0">
                <a:spcBef>
                  <a:spcPct val="0"/>
                </a:spcBef>
                <a:spcAft>
                  <a:spcPct val="0"/>
                </a:spcAft>
                <a:defRPr sz="2200">
                  <a:solidFill>
                    <a:schemeClr val="tx1"/>
                  </a:solidFill>
                  <a:latin typeface="Arial" charset="0"/>
                </a:defRPr>
              </a:lvl8pPr>
              <a:lvl9pPr marL="3886200" indent="-228600" eaLnBrk="0" fontAlgn="base" hangingPunct="0">
                <a:spcBef>
                  <a:spcPct val="0"/>
                </a:spcBef>
                <a:spcAft>
                  <a:spcPct val="0"/>
                </a:spcAft>
                <a:defRPr sz="2200">
                  <a:solidFill>
                    <a:schemeClr val="tx1"/>
                  </a:solidFill>
                  <a:latin typeface="Arial" charset="0"/>
                </a:defRPr>
              </a:lvl9pPr>
            </a:lstStyle>
            <a:p>
              <a:pPr marL="457200" indent="-457200" eaLnBrk="1" hangingPunct="1">
                <a:spcAft>
                  <a:spcPts val="1800"/>
                </a:spcAft>
                <a:buFont typeface="Arial" panose="020B0604020202020204" pitchFamily="34" charset="0"/>
                <a:buChar char="•"/>
              </a:pPr>
              <a:r>
                <a:rPr lang="en-CA" sz="3200" b="0">
                  <a:latin typeface="Arial" panose="020B0604020202020204" pitchFamily="34" charset="0"/>
                  <a:cs typeface="Arial" panose="020B0604020202020204" pitchFamily="34" charset="0"/>
                </a:rPr>
                <a:t>Ripley’s K function is </a:t>
              </a:r>
              <a:r>
                <a:rPr lang="en-CA" sz="3200">
                  <a:latin typeface="Arial" panose="020B0604020202020204" pitchFamily="34" charset="0"/>
                  <a:cs typeface="Arial" panose="020B0604020202020204" pitchFamily="34" charset="0"/>
                </a:rPr>
                <a:t>an essential tool that measures the standardized average number of neighbors of cell within a specific radius. </a:t>
              </a:r>
            </a:p>
            <a:p>
              <a:pPr marL="457200" indent="-457200" eaLnBrk="1" hangingPunct="1">
                <a:spcAft>
                  <a:spcPts val="1800"/>
                </a:spcAft>
                <a:buFont typeface="Arial" panose="020B0604020202020204" pitchFamily="34" charset="0"/>
                <a:buChar char="•"/>
              </a:pPr>
              <a:endParaRPr lang="en-CA" sz="3200">
                <a:latin typeface="Arial" panose="020B0604020202020204" pitchFamily="34" charset="0"/>
                <a:cs typeface="Arial" panose="020B0604020202020204" pitchFamily="34" charset="0"/>
              </a:endParaRPr>
            </a:p>
            <a:p>
              <a:pPr eaLnBrk="1" hangingPunct="1">
                <a:spcAft>
                  <a:spcPts val="1800"/>
                </a:spcAft>
              </a:pPr>
              <a:endParaRPr lang="en-CA" sz="3200">
                <a:latin typeface="Arial" panose="020B0604020202020204" pitchFamily="34" charset="0"/>
                <a:cs typeface="Arial" panose="020B0604020202020204" pitchFamily="34" charset="0"/>
              </a:endParaRPr>
            </a:p>
            <a:p>
              <a:pPr marL="457200" indent="-457200" eaLnBrk="1" hangingPunct="1">
                <a:spcAft>
                  <a:spcPts val="1800"/>
                </a:spcAft>
                <a:buFont typeface="Arial" panose="020B0604020202020204" pitchFamily="34" charset="0"/>
                <a:buChar char="•"/>
              </a:pPr>
              <a:r>
                <a:rPr lang="en-CA" sz="3200">
                  <a:latin typeface="Arial" panose="020B0604020202020204" pitchFamily="34" charset="0"/>
                  <a:cs typeface="Arial" panose="020B0604020202020204" pitchFamily="34" charset="0"/>
                </a:rPr>
                <a:t>A curve for theoretical and observed Ripley’s K functions can be used to visualize the degree of cell clustering and repulsion. The difference between these observed and theoretical curves at specific radii (in this project, 40 μm) can be used to assess cell clustering.</a:t>
              </a:r>
            </a:p>
            <a:p>
              <a:pPr marL="457200" indent="-457200" eaLnBrk="1" hangingPunct="1">
                <a:spcAft>
                  <a:spcPts val="1800"/>
                </a:spcAft>
                <a:buFont typeface="Arial" panose="020B0604020202020204" pitchFamily="34" charset="0"/>
                <a:buChar char="•"/>
              </a:pPr>
              <a:r>
                <a:rPr lang="en-CA" sz="3200">
                  <a:latin typeface="Arial" panose="020B0604020202020204" pitchFamily="34" charset="0"/>
                  <a:cs typeface="Arial" panose="020B0604020202020204" pitchFamily="34" charset="0"/>
                </a:rPr>
                <a:t>One of the main assumptions of the function is spatial homogeneity, meaning that the point intensity is constant across the study area. To avoid violating this assumption, we can calculate the permuted k values.</a:t>
              </a:r>
              <a:endParaRPr lang="en-CA" sz="3200" b="0">
                <a:latin typeface="+mn-lt"/>
              </a:endParaRPr>
            </a:p>
          </p:txBody>
        </p:sp>
        <p:pic>
          <p:nvPicPr>
            <p:cNvPr id="40" name="Picture 8">
              <a:extLst>
                <a:ext uri="{FF2B5EF4-FFF2-40B4-BE49-F238E27FC236}">
                  <a16:creationId xmlns:a16="http://schemas.microsoft.com/office/drawing/2014/main" id="{22FEC9E3-50F0-E5E0-A193-8EF8D9EABD98}"/>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003881" y="27406265"/>
              <a:ext cx="6078761" cy="1421741"/>
            </a:xfrm>
            <a:prstGeom prst="rect">
              <a:avLst/>
            </a:prstGeom>
            <a:noFill/>
            <a:extLst>
              <a:ext uri="{909E8E84-426E-40DD-AFC4-6F175D3DCCD1}">
                <a14:hiddenFill xmlns:a14="http://schemas.microsoft.com/office/drawing/2010/main">
                  <a:solidFill>
                    <a:srgbClr val="FFFFFF"/>
                  </a:solidFill>
                </a14:hiddenFill>
              </a:ext>
            </a:extLst>
          </p:spPr>
        </p:pic>
      </p:grpSp>
      <p:sp>
        <p:nvSpPr>
          <p:cNvPr id="44" name="Text Box 189">
            <a:extLst>
              <a:ext uri="{FF2B5EF4-FFF2-40B4-BE49-F238E27FC236}">
                <a16:creationId xmlns:a16="http://schemas.microsoft.com/office/drawing/2014/main" id="{526B6087-B558-0F34-A3FB-1ACC3324B7CD}"/>
              </a:ext>
            </a:extLst>
          </p:cNvPr>
          <p:cNvSpPr txBox="1">
            <a:spLocks noChangeArrowheads="1"/>
          </p:cNvSpPr>
          <p:nvPr/>
        </p:nvSpPr>
        <p:spPr bwMode="auto">
          <a:xfrm>
            <a:off x="38651561" y="11253628"/>
            <a:ext cx="4518840" cy="5201377"/>
          </a:xfrm>
          <a:prstGeom prst="rect">
            <a:avLst/>
          </a:prstGeom>
          <a:solidFill>
            <a:schemeClr val="bg1"/>
          </a:solidFill>
          <a:ln w="12700">
            <a:noFill/>
          </a:ln>
          <a:effectLst/>
        </p:spPr>
        <p:txBody>
          <a:bodyPr wrap="square" lIns="137137" tIns="137137" rIns="137137" bIns="137137">
            <a:spAutoFit/>
          </a:bodyPr>
          <a:lstStyle>
            <a:lvl1pPr eaLnBrk="0" hangingPunct="0">
              <a:defRPr sz="2200">
                <a:solidFill>
                  <a:schemeClr val="tx1"/>
                </a:solidFill>
                <a:latin typeface="Arial" charset="0"/>
              </a:defRPr>
            </a:lvl1pPr>
            <a:lvl2pPr marL="742950" indent="-285750" eaLnBrk="0" hangingPunct="0">
              <a:defRPr sz="2200">
                <a:solidFill>
                  <a:schemeClr val="tx1"/>
                </a:solidFill>
                <a:latin typeface="Arial" charset="0"/>
              </a:defRPr>
            </a:lvl2pPr>
            <a:lvl3pPr marL="1143000" indent="-228600" eaLnBrk="0" hangingPunct="0">
              <a:defRPr sz="2200">
                <a:solidFill>
                  <a:schemeClr val="tx1"/>
                </a:solidFill>
                <a:latin typeface="Arial" charset="0"/>
              </a:defRPr>
            </a:lvl3pPr>
            <a:lvl4pPr marL="1600200" indent="-228600" eaLnBrk="0" hangingPunct="0">
              <a:defRPr sz="2200">
                <a:solidFill>
                  <a:schemeClr val="tx1"/>
                </a:solidFill>
                <a:latin typeface="Arial" charset="0"/>
              </a:defRPr>
            </a:lvl4pPr>
            <a:lvl5pPr marL="2057400" indent="-228600" eaLnBrk="0" hangingPunct="0">
              <a:defRPr sz="2200">
                <a:solidFill>
                  <a:schemeClr val="tx1"/>
                </a:solidFill>
                <a:latin typeface="Arial" charset="0"/>
              </a:defRPr>
            </a:lvl5pPr>
            <a:lvl6pPr marL="2514600" indent="-228600" eaLnBrk="0" fontAlgn="base" hangingPunct="0">
              <a:spcBef>
                <a:spcPct val="0"/>
              </a:spcBef>
              <a:spcAft>
                <a:spcPct val="0"/>
              </a:spcAft>
              <a:defRPr sz="2200">
                <a:solidFill>
                  <a:schemeClr val="tx1"/>
                </a:solidFill>
                <a:latin typeface="Arial" charset="0"/>
              </a:defRPr>
            </a:lvl6pPr>
            <a:lvl7pPr marL="2971800" indent="-228600" eaLnBrk="0" fontAlgn="base" hangingPunct="0">
              <a:spcBef>
                <a:spcPct val="0"/>
              </a:spcBef>
              <a:spcAft>
                <a:spcPct val="0"/>
              </a:spcAft>
              <a:defRPr sz="2200">
                <a:solidFill>
                  <a:schemeClr val="tx1"/>
                </a:solidFill>
                <a:latin typeface="Arial" charset="0"/>
              </a:defRPr>
            </a:lvl7pPr>
            <a:lvl8pPr marL="3429000" indent="-228600" eaLnBrk="0" fontAlgn="base" hangingPunct="0">
              <a:spcBef>
                <a:spcPct val="0"/>
              </a:spcBef>
              <a:spcAft>
                <a:spcPct val="0"/>
              </a:spcAft>
              <a:defRPr sz="2200">
                <a:solidFill>
                  <a:schemeClr val="tx1"/>
                </a:solidFill>
                <a:latin typeface="Arial" charset="0"/>
              </a:defRPr>
            </a:lvl8pPr>
            <a:lvl9pPr marL="3886200" indent="-228600" eaLnBrk="0" fontAlgn="base" hangingPunct="0">
              <a:spcBef>
                <a:spcPct val="0"/>
              </a:spcBef>
              <a:spcAft>
                <a:spcPct val="0"/>
              </a:spcAft>
              <a:defRPr sz="2200">
                <a:solidFill>
                  <a:schemeClr val="tx1"/>
                </a:solidFill>
                <a:latin typeface="Arial" charset="0"/>
              </a:defRPr>
            </a:lvl9pPr>
          </a:lstStyle>
          <a:p>
            <a:pPr eaLnBrk="1" hangingPunct="1">
              <a:spcAft>
                <a:spcPts val="1800"/>
              </a:spcAft>
            </a:pPr>
            <a:r>
              <a:rPr lang="en-US" sz="3200" b="1">
                <a:latin typeface="Arial" panose="020B0604020202020204" pitchFamily="34" charset="0"/>
                <a:cs typeface="Arial" panose="020B0604020202020204" pitchFamily="34" charset="0"/>
              </a:rPr>
              <a:t>Figure 4:</a:t>
            </a:r>
            <a:r>
              <a:rPr lang="en-US" sz="3200">
                <a:latin typeface="Arial" panose="020B0604020202020204" pitchFamily="34" charset="0"/>
                <a:cs typeface="Arial" panose="020B0604020202020204" pitchFamily="34" charset="0"/>
              </a:rPr>
              <a:t> Kaplan-Meier depicting non-recurrence probability over time for all three curves. Based on these results, clusters 1 and 2 have a higher probability of recurrence than cluster 4 (</a:t>
            </a:r>
            <a:r>
              <a:rPr lang="en-US" sz="3200" i="1">
                <a:latin typeface="Arial" panose="020B0604020202020204" pitchFamily="34" charset="0"/>
                <a:cs typeface="Arial" panose="020B0604020202020204" pitchFamily="34" charset="0"/>
              </a:rPr>
              <a:t>p</a:t>
            </a:r>
            <a:r>
              <a:rPr lang="en-US" sz="3200">
                <a:latin typeface="Arial" panose="020B0604020202020204" pitchFamily="34" charset="0"/>
                <a:cs typeface="Arial" panose="020B0604020202020204" pitchFamily="34" charset="0"/>
              </a:rPr>
              <a:t> = 0.04).</a:t>
            </a:r>
          </a:p>
        </p:txBody>
      </p:sp>
      <p:sp>
        <p:nvSpPr>
          <p:cNvPr id="45" name="Text Box 189">
            <a:extLst>
              <a:ext uri="{FF2B5EF4-FFF2-40B4-BE49-F238E27FC236}">
                <a16:creationId xmlns:a16="http://schemas.microsoft.com/office/drawing/2014/main" id="{33DED73C-9D75-3A2F-8FEC-192C5F3147ED}"/>
              </a:ext>
            </a:extLst>
          </p:cNvPr>
          <p:cNvSpPr txBox="1">
            <a:spLocks noChangeArrowheads="1"/>
          </p:cNvSpPr>
          <p:nvPr/>
        </p:nvSpPr>
        <p:spPr bwMode="auto">
          <a:xfrm>
            <a:off x="38636321" y="16790611"/>
            <a:ext cx="4678492" cy="4708935"/>
          </a:xfrm>
          <a:prstGeom prst="rect">
            <a:avLst/>
          </a:prstGeom>
          <a:solidFill>
            <a:schemeClr val="bg1"/>
          </a:solidFill>
          <a:ln w="12700">
            <a:noFill/>
          </a:ln>
          <a:effectLst/>
        </p:spPr>
        <p:txBody>
          <a:bodyPr wrap="square" lIns="137137" tIns="137137" rIns="137137" bIns="137137">
            <a:spAutoFit/>
          </a:bodyPr>
          <a:lstStyle>
            <a:lvl1pPr eaLnBrk="0" hangingPunct="0">
              <a:defRPr sz="2200">
                <a:solidFill>
                  <a:schemeClr val="tx1"/>
                </a:solidFill>
                <a:latin typeface="Arial" charset="0"/>
              </a:defRPr>
            </a:lvl1pPr>
            <a:lvl2pPr marL="742950" indent="-285750" eaLnBrk="0" hangingPunct="0">
              <a:defRPr sz="2200">
                <a:solidFill>
                  <a:schemeClr val="tx1"/>
                </a:solidFill>
                <a:latin typeface="Arial" charset="0"/>
              </a:defRPr>
            </a:lvl2pPr>
            <a:lvl3pPr marL="1143000" indent="-228600" eaLnBrk="0" hangingPunct="0">
              <a:defRPr sz="2200">
                <a:solidFill>
                  <a:schemeClr val="tx1"/>
                </a:solidFill>
                <a:latin typeface="Arial" charset="0"/>
              </a:defRPr>
            </a:lvl3pPr>
            <a:lvl4pPr marL="1600200" indent="-228600" eaLnBrk="0" hangingPunct="0">
              <a:defRPr sz="2200">
                <a:solidFill>
                  <a:schemeClr val="tx1"/>
                </a:solidFill>
                <a:latin typeface="Arial" charset="0"/>
              </a:defRPr>
            </a:lvl4pPr>
            <a:lvl5pPr marL="2057400" indent="-228600" eaLnBrk="0" hangingPunct="0">
              <a:defRPr sz="2200">
                <a:solidFill>
                  <a:schemeClr val="tx1"/>
                </a:solidFill>
                <a:latin typeface="Arial" charset="0"/>
              </a:defRPr>
            </a:lvl5pPr>
            <a:lvl6pPr marL="2514600" indent="-228600" eaLnBrk="0" fontAlgn="base" hangingPunct="0">
              <a:spcBef>
                <a:spcPct val="0"/>
              </a:spcBef>
              <a:spcAft>
                <a:spcPct val="0"/>
              </a:spcAft>
              <a:defRPr sz="2200">
                <a:solidFill>
                  <a:schemeClr val="tx1"/>
                </a:solidFill>
                <a:latin typeface="Arial" charset="0"/>
              </a:defRPr>
            </a:lvl6pPr>
            <a:lvl7pPr marL="2971800" indent="-228600" eaLnBrk="0" fontAlgn="base" hangingPunct="0">
              <a:spcBef>
                <a:spcPct val="0"/>
              </a:spcBef>
              <a:spcAft>
                <a:spcPct val="0"/>
              </a:spcAft>
              <a:defRPr sz="2200">
                <a:solidFill>
                  <a:schemeClr val="tx1"/>
                </a:solidFill>
                <a:latin typeface="Arial" charset="0"/>
              </a:defRPr>
            </a:lvl7pPr>
            <a:lvl8pPr marL="3429000" indent="-228600" eaLnBrk="0" fontAlgn="base" hangingPunct="0">
              <a:spcBef>
                <a:spcPct val="0"/>
              </a:spcBef>
              <a:spcAft>
                <a:spcPct val="0"/>
              </a:spcAft>
              <a:defRPr sz="2200">
                <a:solidFill>
                  <a:schemeClr val="tx1"/>
                </a:solidFill>
                <a:latin typeface="Arial" charset="0"/>
              </a:defRPr>
            </a:lvl8pPr>
            <a:lvl9pPr marL="3886200" indent="-228600" eaLnBrk="0" fontAlgn="base" hangingPunct="0">
              <a:spcBef>
                <a:spcPct val="0"/>
              </a:spcBef>
              <a:spcAft>
                <a:spcPct val="0"/>
              </a:spcAft>
              <a:defRPr sz="2200">
                <a:solidFill>
                  <a:schemeClr val="tx1"/>
                </a:solidFill>
                <a:latin typeface="Arial" charset="0"/>
              </a:defRPr>
            </a:lvl9pPr>
          </a:lstStyle>
          <a:p>
            <a:pPr eaLnBrk="1" hangingPunct="1">
              <a:spcAft>
                <a:spcPts val="1800"/>
              </a:spcAft>
            </a:pPr>
            <a:r>
              <a:rPr lang="en-US" sz="3200" b="1">
                <a:latin typeface="Arial" panose="020B0604020202020204" pitchFamily="34" charset="0"/>
                <a:cs typeface="Arial" panose="020B0604020202020204" pitchFamily="34" charset="0"/>
              </a:rPr>
              <a:t>Figure 5: </a:t>
            </a:r>
            <a:r>
              <a:rPr lang="en-US" sz="3200">
                <a:latin typeface="Arial" panose="020B0604020202020204" pitchFamily="34" charset="0"/>
                <a:cs typeface="Arial" panose="020B0604020202020204" pitchFamily="34" charset="0"/>
              </a:rPr>
              <a:t>Boxplot depicting k-cross values of cytotoxic T cell interactions with other cells. Cluster 4 has  lower k-cross values than the other two clusters with certain immune cells.</a:t>
            </a:r>
          </a:p>
        </p:txBody>
      </p:sp>
      <p:sp>
        <p:nvSpPr>
          <p:cNvPr id="47" name="TextBox 46">
            <a:extLst>
              <a:ext uri="{FF2B5EF4-FFF2-40B4-BE49-F238E27FC236}">
                <a16:creationId xmlns:a16="http://schemas.microsoft.com/office/drawing/2014/main" id="{9186129B-D8B7-05EF-59CF-E7AEEF943960}"/>
              </a:ext>
            </a:extLst>
          </p:cNvPr>
          <p:cNvSpPr txBox="1"/>
          <p:nvPr/>
        </p:nvSpPr>
        <p:spPr>
          <a:xfrm>
            <a:off x="29429895" y="29535669"/>
            <a:ext cx="13953567" cy="4101111"/>
          </a:xfrm>
          <a:prstGeom prst="rect">
            <a:avLst/>
          </a:prstGeom>
          <a:noFill/>
        </p:spPr>
        <p:txBody>
          <a:bodyPr wrap="square" lIns="68568" tIns="34284" rIns="68568" bIns="34284" rtlCol="0">
            <a:spAutoFit/>
          </a:bodyPr>
          <a:lstStyle/>
          <a:p>
            <a:r>
              <a:rPr lang="en-US" sz="2400" b="1">
                <a:latin typeface="Myriad Pro" panose="020B0503030403020204" pitchFamily="34" charset="0"/>
              </a:rPr>
              <a:t>Acknowledgement: </a:t>
            </a:r>
            <a:r>
              <a:rPr lang="en-US" sz="2400" b="0" i="0" u="none" strike="noStrike">
                <a:solidFill>
                  <a:srgbClr val="000000"/>
                </a:solidFill>
                <a:effectLst/>
                <a:latin typeface="Arial" panose="020B0604020202020204" pitchFamily="34" charset="0"/>
              </a:rPr>
              <a:t>We would like to thank Grant Carr, Dr. Junsouk Choi, and Dr. Veera Baladandayuthapani for their generous help and support throughout this project, as well as Dr. Bhramar Mukherjee and the entire staff for the opportunity to be part of the Big Data Summer Institute.</a:t>
            </a:r>
            <a:endParaRPr lang="en-US" sz="2400">
              <a:latin typeface="Arial" panose="020B0604020202020204" pitchFamily="34" charset="0"/>
              <a:cs typeface="Arial" panose="020B0604020202020204" pitchFamily="34" charset="0"/>
            </a:endParaRPr>
          </a:p>
          <a:p>
            <a:r>
              <a:rPr lang="en-US" sz="2400" b="1">
                <a:latin typeface="Myriad Pro" panose="020B0503030403020204" pitchFamily="34" charset="0"/>
              </a:rPr>
              <a:t>References</a:t>
            </a:r>
          </a:p>
          <a:p>
            <a:pPr marL="342842" indent="-342842">
              <a:buFont typeface="+mj-lt"/>
              <a:buAutoNum type="arabicPeriod"/>
            </a:pPr>
            <a:r>
              <a:rPr lang="en-US" sz="1800" b="0" i="0" u="none" strike="noStrike">
                <a:solidFill>
                  <a:srgbClr val="000000"/>
                </a:solidFill>
                <a:effectLst/>
                <a:latin typeface="Arial" panose="020B0604020202020204" pitchFamily="34" charset="0"/>
                <a:cs typeface="Arial" panose="020B0604020202020204" pitchFamily="34" charset="0"/>
              </a:rPr>
              <a:t>Amber M. Johnson, Jet al., Cancer Cell-Specific Major Histocompatibility Complex II Expression as a Determinant of the Immune Infiltrate Organization and Function in the NSCLC Tumor Microenvironment, Journal of Thoracic Oncology, Volume 16, Issue 10, 2021, Pages 1694-1704, ISSN 1556-0864</a:t>
            </a:r>
            <a:r>
              <a:rPr lang="en-US" sz="1800" b="0" i="0" strike="noStrike">
                <a:effectLst/>
                <a:latin typeface="Arial" panose="020B0604020202020204" pitchFamily="34" charset="0"/>
                <a:cs typeface="Arial" panose="020B0604020202020204" pitchFamily="34" charset="0"/>
              </a:rPr>
              <a:t>, </a:t>
            </a:r>
            <a:r>
              <a:rPr lang="en-US" sz="1800" b="0" i="0" strike="noStrike">
                <a:effectLst/>
                <a:latin typeface="Arial" panose="020B0604020202020204" pitchFamily="34" charset="0"/>
                <a:cs typeface="Arial" panose="020B0604020202020204" pitchFamily="34" charset="0"/>
                <a:hlinkClick r:id="rId10">
                  <a:extLst>
                    <a:ext uri="{A12FA001-AC4F-418D-AE19-62706E023703}">
                      <ahyp:hlinkClr xmlns:ahyp="http://schemas.microsoft.com/office/drawing/2018/hyperlinkcolor" val="tx"/>
                    </a:ext>
                  </a:extLst>
                </a:hlinkClick>
              </a:rPr>
              <a:t>https://doi.org/10.1016/j.jtho.2021.05.004</a:t>
            </a:r>
            <a:r>
              <a:rPr lang="en-US" sz="1800" b="0" i="0" u="none" strike="noStrike">
                <a:solidFill>
                  <a:srgbClr val="000000"/>
                </a:solidFill>
                <a:effectLst/>
                <a:latin typeface="Arial" panose="020B0604020202020204" pitchFamily="34" charset="0"/>
                <a:cs typeface="Arial" panose="020B0604020202020204" pitchFamily="34" charset="0"/>
              </a:rPr>
              <a:t>. </a:t>
            </a:r>
          </a:p>
          <a:p>
            <a:pPr marL="342842" indent="-342842">
              <a:buFont typeface="+mj-lt"/>
              <a:buAutoNum type="arabicPeriod"/>
            </a:pPr>
            <a:r>
              <a:rPr lang="en-US" sz="1800" b="0" i="0" u="none" strike="noStrike">
                <a:solidFill>
                  <a:srgbClr val="000000"/>
                </a:solidFill>
                <a:effectLst/>
                <a:latin typeface="Arial" panose="020B0604020202020204" pitchFamily="34" charset="0"/>
                <a:cs typeface="Arial" panose="020B0604020202020204" pitchFamily="34" charset="0"/>
              </a:rPr>
              <a:t>Joe H. Ward Jr. (1963) Hierarchical Grouping to Optimize an Objective Function, Journal of the American Statistical Association, 58:301, 236-244, DOI: 10.1080/01621459.1963.10500845</a:t>
            </a:r>
          </a:p>
          <a:p>
            <a:pPr marL="342842" indent="-342842">
              <a:buFont typeface="+mj-lt"/>
              <a:buAutoNum type="arabicPeriod"/>
            </a:pPr>
            <a:endParaRPr lang="en-CA" sz="2000"/>
          </a:p>
          <a:p>
            <a:endParaRPr lang="en-US" sz="2800" b="1">
              <a:latin typeface="Myriad Pro" panose="020B0503030403020204" pitchFamily="34" charset="0"/>
            </a:endParaRPr>
          </a:p>
          <a:p>
            <a:endParaRPr lang="en-US" sz="2800" b="1">
              <a:latin typeface="Myriad Pro" panose="020B0503030403020204" pitchFamily="34" charset="0"/>
            </a:endParaRPr>
          </a:p>
        </p:txBody>
      </p:sp>
      <p:cxnSp>
        <p:nvCxnSpPr>
          <p:cNvPr id="51" name="Straight Connector 50">
            <a:extLst>
              <a:ext uri="{FF2B5EF4-FFF2-40B4-BE49-F238E27FC236}">
                <a16:creationId xmlns:a16="http://schemas.microsoft.com/office/drawing/2014/main" id="{CE2DC6A8-A4F0-EA21-2C5C-DA828F25CBDB}"/>
              </a:ext>
            </a:extLst>
          </p:cNvPr>
          <p:cNvCxnSpPr>
            <a:cxnSpLocks/>
          </p:cNvCxnSpPr>
          <p:nvPr/>
        </p:nvCxnSpPr>
        <p:spPr>
          <a:xfrm>
            <a:off x="29429895" y="29394261"/>
            <a:ext cx="13953567"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57" name="Round Same Side Corner Rectangle 56">
            <a:extLst>
              <a:ext uri="{FF2B5EF4-FFF2-40B4-BE49-F238E27FC236}">
                <a16:creationId xmlns:a16="http://schemas.microsoft.com/office/drawing/2014/main" id="{51E1B08B-6160-F6AF-D473-7BFAB487BEB3}"/>
              </a:ext>
            </a:extLst>
          </p:cNvPr>
          <p:cNvSpPr/>
          <p:nvPr/>
        </p:nvSpPr>
        <p:spPr>
          <a:xfrm>
            <a:off x="14930037" y="23926800"/>
            <a:ext cx="13942800" cy="765712"/>
          </a:xfrm>
          <a:prstGeom prst="round2SameRect">
            <a:avLst/>
          </a:prstGeom>
          <a:no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lIns="68568" tIns="34284" rIns="68568" bIns="34284" rtlCol="0" anchor="ctr"/>
          <a:lstStyle/>
          <a:p>
            <a:r>
              <a:rPr lang="en-US" sz="4800" b="1">
                <a:solidFill>
                  <a:schemeClr val="accent1"/>
                </a:solidFill>
                <a:latin typeface="Myriad Pro" panose="020B0503030403020204" pitchFamily="34" charset="0"/>
              </a:rPr>
              <a:t>Heatmap</a:t>
            </a:r>
          </a:p>
        </p:txBody>
      </p:sp>
      <p:sp>
        <p:nvSpPr>
          <p:cNvPr id="75" name="Round Same Side Corner Rectangle 74"/>
          <p:cNvSpPr/>
          <p:nvPr/>
        </p:nvSpPr>
        <p:spPr>
          <a:xfrm>
            <a:off x="29216834" y="5901509"/>
            <a:ext cx="13941602" cy="943200"/>
          </a:xfrm>
          <a:prstGeom prst="round2SameRect">
            <a:avLst/>
          </a:prstGeom>
          <a:solidFill>
            <a:schemeClr val="accent1"/>
          </a:solidFill>
          <a:ln w="12700"/>
          <a:effectLst/>
        </p:spPr>
        <p:style>
          <a:lnRef idx="2">
            <a:schemeClr val="accent1">
              <a:shade val="50000"/>
            </a:schemeClr>
          </a:lnRef>
          <a:fillRef idx="1">
            <a:schemeClr val="accent1"/>
          </a:fillRef>
          <a:effectRef idx="0">
            <a:schemeClr val="accent1"/>
          </a:effectRef>
          <a:fontRef idx="minor">
            <a:schemeClr val="lt1"/>
          </a:fontRef>
        </p:style>
        <p:txBody>
          <a:bodyPr lIns="68568" tIns="34284" rIns="68568" bIns="34284" rtlCol="0" anchor="ctr"/>
          <a:lstStyle/>
          <a:p>
            <a:pPr algn="ctr"/>
            <a:r>
              <a:rPr lang="en-US" sz="5400" b="1">
                <a:solidFill>
                  <a:schemeClr val="bg1">
                    <a:lumMod val="95000"/>
                  </a:schemeClr>
                </a:solidFill>
                <a:latin typeface="Myriad Pro" panose="020B0503030403020204" pitchFamily="34" charset="0"/>
              </a:rPr>
              <a:t>Results</a:t>
            </a:r>
          </a:p>
        </p:txBody>
      </p:sp>
      <p:grpSp>
        <p:nvGrpSpPr>
          <p:cNvPr id="72" name="Group 71">
            <a:extLst>
              <a:ext uri="{FF2B5EF4-FFF2-40B4-BE49-F238E27FC236}">
                <a16:creationId xmlns:a16="http://schemas.microsoft.com/office/drawing/2014/main" id="{8EAEE5C7-FCA9-DA16-47BD-FFF207E6F4F8}"/>
              </a:ext>
            </a:extLst>
          </p:cNvPr>
          <p:cNvGrpSpPr/>
          <p:nvPr/>
        </p:nvGrpSpPr>
        <p:grpSpPr>
          <a:xfrm>
            <a:off x="14721656" y="16594668"/>
            <a:ext cx="14447888" cy="5848932"/>
            <a:chOff x="15250300" y="12884561"/>
            <a:chExt cx="13390599" cy="5095747"/>
          </a:xfrm>
        </p:grpSpPr>
        <p:pic>
          <p:nvPicPr>
            <p:cNvPr id="1034" name="Picture 10">
              <a:extLst>
                <a:ext uri="{FF2B5EF4-FFF2-40B4-BE49-F238E27FC236}">
                  <a16:creationId xmlns:a16="http://schemas.microsoft.com/office/drawing/2014/main" id="{C0E9C4F5-C446-FA81-3F4A-4553BF8206C7}"/>
                </a:ext>
              </a:extLst>
            </p:cNvPr>
            <p:cNvPicPr>
              <a:picLocks noChangeAspect="1" noChangeArrowheads="1"/>
            </p:cNvPicPr>
            <p:nvPr/>
          </p:nvPicPr>
          <p:blipFill rotWithShape="1">
            <a:blip r:embed="rId11">
              <a:extLst>
                <a:ext uri="{28A0092B-C50C-407E-A947-70E740481C1C}">
                  <a14:useLocalDpi xmlns:a14="http://schemas.microsoft.com/office/drawing/2010/main" val="0"/>
                </a:ext>
              </a:extLst>
            </a:blip>
            <a:srcRect b="24459"/>
            <a:stretch/>
          </p:blipFill>
          <p:spPr bwMode="auto">
            <a:xfrm>
              <a:off x="15250300" y="12884561"/>
              <a:ext cx="13390599" cy="5095747"/>
            </a:xfrm>
            <a:prstGeom prst="rect">
              <a:avLst/>
            </a:prstGeom>
            <a:noFill/>
            <a:extLst>
              <a:ext uri="{909E8E84-426E-40DD-AFC4-6F175D3DCCD1}">
                <a14:hiddenFill xmlns:a14="http://schemas.microsoft.com/office/drawing/2010/main">
                  <a:solidFill>
                    <a:srgbClr val="FFFFFF"/>
                  </a:solidFill>
                </a14:hiddenFill>
              </a:ext>
            </a:extLst>
          </p:spPr>
        </p:pic>
        <p:sp>
          <p:nvSpPr>
            <p:cNvPr id="68" name="Rectangle 67">
              <a:extLst>
                <a:ext uri="{FF2B5EF4-FFF2-40B4-BE49-F238E27FC236}">
                  <a16:creationId xmlns:a16="http://schemas.microsoft.com/office/drawing/2014/main" id="{78B9E75E-8E0E-4A73-7284-8DEAA9B610EF}"/>
                </a:ext>
              </a:extLst>
            </p:cNvPr>
            <p:cNvSpPr/>
            <p:nvPr/>
          </p:nvSpPr>
          <p:spPr>
            <a:xfrm>
              <a:off x="16794866" y="15399267"/>
              <a:ext cx="3819645" cy="2429403"/>
            </a:xfrm>
            <a:prstGeom prst="rect">
              <a:avLst/>
            </a:prstGeom>
            <a:noFill/>
            <a:ln w="19050">
              <a:solidFill>
                <a:srgbClr val="E299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Rectangle 68">
              <a:extLst>
                <a:ext uri="{FF2B5EF4-FFF2-40B4-BE49-F238E27FC236}">
                  <a16:creationId xmlns:a16="http://schemas.microsoft.com/office/drawing/2014/main" id="{907A9CBE-70F8-85D8-3B24-0245CE253FB4}"/>
                </a:ext>
              </a:extLst>
            </p:cNvPr>
            <p:cNvSpPr/>
            <p:nvPr/>
          </p:nvSpPr>
          <p:spPr>
            <a:xfrm>
              <a:off x="20614511" y="15399267"/>
              <a:ext cx="1423686" cy="2429403"/>
            </a:xfrm>
            <a:prstGeom prst="rect">
              <a:avLst/>
            </a:prstGeom>
            <a:noFill/>
            <a:ln w="19050">
              <a:solidFill>
                <a:srgbClr val="FF928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4">
                    <a:lumMod val="60000"/>
                    <a:lumOff val="40000"/>
                  </a:schemeClr>
                </a:solidFill>
              </a:endParaRPr>
            </a:p>
          </p:txBody>
        </p:sp>
        <p:sp>
          <p:nvSpPr>
            <p:cNvPr id="70" name="Rectangle 69">
              <a:extLst>
                <a:ext uri="{FF2B5EF4-FFF2-40B4-BE49-F238E27FC236}">
                  <a16:creationId xmlns:a16="http://schemas.microsoft.com/office/drawing/2014/main" id="{81BEAD87-DEB9-0B9B-8740-66AFB8501810}"/>
                </a:ext>
              </a:extLst>
            </p:cNvPr>
            <p:cNvSpPr/>
            <p:nvPr/>
          </p:nvSpPr>
          <p:spPr>
            <a:xfrm>
              <a:off x="22036241" y="15399613"/>
              <a:ext cx="5314736" cy="2429403"/>
            </a:xfrm>
            <a:prstGeom prst="rect">
              <a:avLst/>
            </a:prstGeom>
            <a:noFill/>
            <a:ln w="19050">
              <a:solidFill>
                <a:srgbClr val="96CA0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ectangle 70">
              <a:extLst>
                <a:ext uri="{FF2B5EF4-FFF2-40B4-BE49-F238E27FC236}">
                  <a16:creationId xmlns:a16="http://schemas.microsoft.com/office/drawing/2014/main" id="{66E97DA6-0A0D-BEBC-A269-554995866F04}"/>
                </a:ext>
              </a:extLst>
            </p:cNvPr>
            <p:cNvSpPr/>
            <p:nvPr/>
          </p:nvSpPr>
          <p:spPr>
            <a:xfrm>
              <a:off x="27350977" y="15399267"/>
              <a:ext cx="320263" cy="2429403"/>
            </a:xfrm>
            <a:prstGeom prst="rect">
              <a:avLst/>
            </a:prstGeom>
            <a:noFill/>
            <a:ln w="19050">
              <a:solidFill>
                <a:srgbClr val="00D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6" name="Round Same Side Corner Rectangle 75">
            <a:extLst>
              <a:ext uri="{FF2B5EF4-FFF2-40B4-BE49-F238E27FC236}">
                <a16:creationId xmlns:a16="http://schemas.microsoft.com/office/drawing/2014/main" id="{619C9715-4034-9331-BA2E-0383EEFADC6A}"/>
              </a:ext>
            </a:extLst>
          </p:cNvPr>
          <p:cNvSpPr/>
          <p:nvPr/>
        </p:nvSpPr>
        <p:spPr>
          <a:xfrm>
            <a:off x="615260" y="6927729"/>
            <a:ext cx="13942800" cy="765712"/>
          </a:xfrm>
          <a:prstGeom prst="round2SameRect">
            <a:avLst/>
          </a:prstGeom>
          <a:no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lIns="68568" tIns="34284" rIns="68568" bIns="34284" rtlCol="0" anchor="ctr"/>
          <a:lstStyle/>
          <a:p>
            <a:r>
              <a:rPr lang="en-US" sz="4800" b="1">
                <a:solidFill>
                  <a:schemeClr val="accent1"/>
                </a:solidFill>
                <a:latin typeface="Myriad Pro" panose="020B0503030403020204" pitchFamily="34" charset="0"/>
              </a:rPr>
              <a:t>Multiplex Imaging</a:t>
            </a:r>
          </a:p>
        </p:txBody>
      </p:sp>
      <p:sp>
        <p:nvSpPr>
          <p:cNvPr id="78" name="Text Box 189">
            <a:extLst>
              <a:ext uri="{FF2B5EF4-FFF2-40B4-BE49-F238E27FC236}">
                <a16:creationId xmlns:a16="http://schemas.microsoft.com/office/drawing/2014/main" id="{8D19E18B-42D2-C7B3-5D23-1C8746355176}"/>
              </a:ext>
            </a:extLst>
          </p:cNvPr>
          <p:cNvSpPr txBox="1">
            <a:spLocks noChangeArrowheads="1"/>
          </p:cNvSpPr>
          <p:nvPr/>
        </p:nvSpPr>
        <p:spPr bwMode="auto">
          <a:xfrm>
            <a:off x="615260" y="13047061"/>
            <a:ext cx="9121838" cy="6155485"/>
          </a:xfrm>
          <a:prstGeom prst="rect">
            <a:avLst/>
          </a:prstGeom>
          <a:solidFill>
            <a:schemeClr val="bg1"/>
          </a:solidFill>
          <a:ln w="12700">
            <a:noFill/>
          </a:ln>
          <a:effectLst/>
        </p:spPr>
        <p:txBody>
          <a:bodyPr wrap="square" lIns="137137" tIns="137137" rIns="137137" bIns="137137">
            <a:spAutoFit/>
          </a:bodyPr>
          <a:lstStyle>
            <a:lvl1pPr eaLnBrk="0" hangingPunct="0">
              <a:defRPr sz="2200">
                <a:solidFill>
                  <a:schemeClr val="tx1"/>
                </a:solidFill>
                <a:latin typeface="Arial" charset="0"/>
              </a:defRPr>
            </a:lvl1pPr>
            <a:lvl2pPr marL="742950" indent="-285750" eaLnBrk="0" hangingPunct="0">
              <a:defRPr sz="2200">
                <a:solidFill>
                  <a:schemeClr val="tx1"/>
                </a:solidFill>
                <a:latin typeface="Arial" charset="0"/>
              </a:defRPr>
            </a:lvl2pPr>
            <a:lvl3pPr marL="1143000" indent="-228600" eaLnBrk="0" hangingPunct="0">
              <a:defRPr sz="2200">
                <a:solidFill>
                  <a:schemeClr val="tx1"/>
                </a:solidFill>
                <a:latin typeface="Arial" charset="0"/>
              </a:defRPr>
            </a:lvl3pPr>
            <a:lvl4pPr marL="1600200" indent="-228600" eaLnBrk="0" hangingPunct="0">
              <a:defRPr sz="2200">
                <a:solidFill>
                  <a:schemeClr val="tx1"/>
                </a:solidFill>
                <a:latin typeface="Arial" charset="0"/>
              </a:defRPr>
            </a:lvl4pPr>
            <a:lvl5pPr marL="2057400" indent="-228600" eaLnBrk="0" hangingPunct="0">
              <a:defRPr sz="2200">
                <a:solidFill>
                  <a:schemeClr val="tx1"/>
                </a:solidFill>
                <a:latin typeface="Arial" charset="0"/>
              </a:defRPr>
            </a:lvl5pPr>
            <a:lvl6pPr marL="2514600" indent="-228600" eaLnBrk="0" fontAlgn="base" hangingPunct="0">
              <a:spcBef>
                <a:spcPct val="0"/>
              </a:spcBef>
              <a:spcAft>
                <a:spcPct val="0"/>
              </a:spcAft>
              <a:defRPr sz="2200">
                <a:solidFill>
                  <a:schemeClr val="tx1"/>
                </a:solidFill>
                <a:latin typeface="Arial" charset="0"/>
              </a:defRPr>
            </a:lvl6pPr>
            <a:lvl7pPr marL="2971800" indent="-228600" eaLnBrk="0" fontAlgn="base" hangingPunct="0">
              <a:spcBef>
                <a:spcPct val="0"/>
              </a:spcBef>
              <a:spcAft>
                <a:spcPct val="0"/>
              </a:spcAft>
              <a:defRPr sz="2200">
                <a:solidFill>
                  <a:schemeClr val="tx1"/>
                </a:solidFill>
                <a:latin typeface="Arial" charset="0"/>
              </a:defRPr>
            </a:lvl7pPr>
            <a:lvl8pPr marL="3429000" indent="-228600" eaLnBrk="0" fontAlgn="base" hangingPunct="0">
              <a:spcBef>
                <a:spcPct val="0"/>
              </a:spcBef>
              <a:spcAft>
                <a:spcPct val="0"/>
              </a:spcAft>
              <a:defRPr sz="2200">
                <a:solidFill>
                  <a:schemeClr val="tx1"/>
                </a:solidFill>
                <a:latin typeface="Arial" charset="0"/>
              </a:defRPr>
            </a:lvl8pPr>
            <a:lvl9pPr marL="3886200" indent="-228600" eaLnBrk="0" fontAlgn="base" hangingPunct="0">
              <a:spcBef>
                <a:spcPct val="0"/>
              </a:spcBef>
              <a:spcAft>
                <a:spcPct val="0"/>
              </a:spcAft>
              <a:defRPr sz="2200">
                <a:solidFill>
                  <a:schemeClr val="tx1"/>
                </a:solidFill>
                <a:latin typeface="Arial" charset="0"/>
              </a:defRPr>
            </a:lvl9pPr>
          </a:lstStyle>
          <a:p>
            <a:pPr marL="857250" indent="-857250" eaLnBrk="1" hangingPunct="1">
              <a:spcAft>
                <a:spcPts val="1800"/>
              </a:spcAft>
              <a:buFont typeface="Arial" panose="020B0604020202020204" pitchFamily="34" charset="0"/>
              <a:buChar char="•"/>
            </a:pPr>
            <a:r>
              <a:rPr lang="en-US" sz="3200">
                <a:latin typeface="Arial" panose="020B0604020202020204" pitchFamily="34" charset="0"/>
                <a:cs typeface="Arial" panose="020B0604020202020204" pitchFamily="34" charset="0"/>
              </a:rPr>
              <a:t>The VectraPolarisData package</a:t>
            </a:r>
            <a:r>
              <a:rPr lang="en-US" sz="3200" baseline="30000">
                <a:latin typeface="Arial" panose="020B0604020202020204" pitchFamily="34" charset="0"/>
                <a:cs typeface="Arial" panose="020B0604020202020204" pitchFamily="34" charset="0"/>
              </a:rPr>
              <a:t>1</a:t>
            </a:r>
            <a:r>
              <a:rPr lang="en-US" sz="3200">
                <a:latin typeface="Arial" panose="020B0604020202020204" pitchFamily="34" charset="0"/>
                <a:cs typeface="Arial" panose="020B0604020202020204" pitchFamily="34" charset="0"/>
              </a:rPr>
              <a:t> contains a lung cancer MI dataset collected at the University of Colorado Anschutz Medical Campus, which includes 761 images from 153 patients.</a:t>
            </a:r>
          </a:p>
          <a:p>
            <a:pPr marL="857250" indent="-857250" eaLnBrk="1" hangingPunct="1">
              <a:spcAft>
                <a:spcPts val="1800"/>
              </a:spcAft>
              <a:buFont typeface="Arial" panose="020B0604020202020204" pitchFamily="34" charset="0"/>
              <a:buChar char="•"/>
            </a:pPr>
            <a:r>
              <a:rPr lang="en-US" sz="3200">
                <a:latin typeface="Arial" panose="020B0604020202020204" pitchFamily="34" charset="0"/>
                <a:cs typeface="Arial" panose="020B0604020202020204" pitchFamily="34" charset="0"/>
              </a:rPr>
              <a:t>The dataset covers information such as x and y coordinates of each cell in an image, cell phenotypes, and patients’ characteristics (“patient metadata”), including age at diagnosis, pack-years,    time to recurrence, and gender.</a:t>
            </a:r>
          </a:p>
        </p:txBody>
      </p:sp>
      <p:sp>
        <p:nvSpPr>
          <p:cNvPr id="80" name="Round Same Side Corner Rectangle 79">
            <a:extLst>
              <a:ext uri="{FF2B5EF4-FFF2-40B4-BE49-F238E27FC236}">
                <a16:creationId xmlns:a16="http://schemas.microsoft.com/office/drawing/2014/main" id="{272DBF2E-E635-EC87-EEF9-A1AF87D47381}"/>
              </a:ext>
            </a:extLst>
          </p:cNvPr>
          <p:cNvSpPr/>
          <p:nvPr/>
        </p:nvSpPr>
        <p:spPr>
          <a:xfrm>
            <a:off x="615260" y="12352062"/>
            <a:ext cx="13942800" cy="765712"/>
          </a:xfrm>
          <a:prstGeom prst="round2SameRect">
            <a:avLst/>
          </a:prstGeom>
          <a:no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lIns="68568" tIns="34284" rIns="68568" bIns="34284" rtlCol="0" anchor="ctr"/>
          <a:lstStyle/>
          <a:p>
            <a:r>
              <a:rPr lang="en-US" sz="4800" b="1">
                <a:solidFill>
                  <a:schemeClr val="accent1"/>
                </a:solidFill>
                <a:latin typeface="Myriad Pro" panose="020B0503030403020204" pitchFamily="34" charset="0"/>
              </a:rPr>
              <a:t>The Data</a:t>
            </a:r>
          </a:p>
        </p:txBody>
      </p:sp>
      <p:sp>
        <p:nvSpPr>
          <p:cNvPr id="81" name="Text Box 189">
            <a:extLst>
              <a:ext uri="{FF2B5EF4-FFF2-40B4-BE49-F238E27FC236}">
                <a16:creationId xmlns:a16="http://schemas.microsoft.com/office/drawing/2014/main" id="{C3E09D05-BD71-09E7-D504-EB0CC452916C}"/>
              </a:ext>
            </a:extLst>
          </p:cNvPr>
          <p:cNvSpPr txBox="1">
            <a:spLocks noChangeArrowheads="1"/>
          </p:cNvSpPr>
          <p:nvPr/>
        </p:nvSpPr>
        <p:spPr bwMode="auto">
          <a:xfrm>
            <a:off x="9573975" y="17684041"/>
            <a:ext cx="5059356" cy="1200282"/>
          </a:xfrm>
          <a:prstGeom prst="rect">
            <a:avLst/>
          </a:prstGeom>
          <a:noFill/>
          <a:ln w="12700">
            <a:noFill/>
          </a:ln>
          <a:effectLst/>
        </p:spPr>
        <p:txBody>
          <a:bodyPr wrap="square" lIns="137137" tIns="137137" rIns="137137" bIns="137137">
            <a:spAutoFit/>
          </a:bodyPr>
          <a:lstStyle>
            <a:lvl1pPr eaLnBrk="0" hangingPunct="0">
              <a:defRPr sz="2200">
                <a:solidFill>
                  <a:schemeClr val="tx1"/>
                </a:solidFill>
                <a:latin typeface="Arial" charset="0"/>
              </a:defRPr>
            </a:lvl1pPr>
            <a:lvl2pPr marL="742950" indent="-285750" eaLnBrk="0" hangingPunct="0">
              <a:defRPr sz="2200">
                <a:solidFill>
                  <a:schemeClr val="tx1"/>
                </a:solidFill>
                <a:latin typeface="Arial" charset="0"/>
              </a:defRPr>
            </a:lvl2pPr>
            <a:lvl3pPr marL="1143000" indent="-228600" eaLnBrk="0" hangingPunct="0">
              <a:defRPr sz="2200">
                <a:solidFill>
                  <a:schemeClr val="tx1"/>
                </a:solidFill>
                <a:latin typeface="Arial" charset="0"/>
              </a:defRPr>
            </a:lvl3pPr>
            <a:lvl4pPr marL="1600200" indent="-228600" eaLnBrk="0" hangingPunct="0">
              <a:defRPr sz="2200">
                <a:solidFill>
                  <a:schemeClr val="tx1"/>
                </a:solidFill>
                <a:latin typeface="Arial" charset="0"/>
              </a:defRPr>
            </a:lvl4pPr>
            <a:lvl5pPr marL="2057400" indent="-228600" eaLnBrk="0" hangingPunct="0">
              <a:defRPr sz="2200">
                <a:solidFill>
                  <a:schemeClr val="tx1"/>
                </a:solidFill>
                <a:latin typeface="Arial" charset="0"/>
              </a:defRPr>
            </a:lvl5pPr>
            <a:lvl6pPr marL="2514600" indent="-228600" eaLnBrk="0" fontAlgn="base" hangingPunct="0">
              <a:spcBef>
                <a:spcPct val="0"/>
              </a:spcBef>
              <a:spcAft>
                <a:spcPct val="0"/>
              </a:spcAft>
              <a:defRPr sz="2200">
                <a:solidFill>
                  <a:schemeClr val="tx1"/>
                </a:solidFill>
                <a:latin typeface="Arial" charset="0"/>
              </a:defRPr>
            </a:lvl6pPr>
            <a:lvl7pPr marL="2971800" indent="-228600" eaLnBrk="0" fontAlgn="base" hangingPunct="0">
              <a:spcBef>
                <a:spcPct val="0"/>
              </a:spcBef>
              <a:spcAft>
                <a:spcPct val="0"/>
              </a:spcAft>
              <a:defRPr sz="2200">
                <a:solidFill>
                  <a:schemeClr val="tx1"/>
                </a:solidFill>
                <a:latin typeface="Arial" charset="0"/>
              </a:defRPr>
            </a:lvl7pPr>
            <a:lvl8pPr marL="3429000" indent="-228600" eaLnBrk="0" fontAlgn="base" hangingPunct="0">
              <a:spcBef>
                <a:spcPct val="0"/>
              </a:spcBef>
              <a:spcAft>
                <a:spcPct val="0"/>
              </a:spcAft>
              <a:defRPr sz="2200">
                <a:solidFill>
                  <a:schemeClr val="tx1"/>
                </a:solidFill>
                <a:latin typeface="Arial" charset="0"/>
              </a:defRPr>
            </a:lvl8pPr>
            <a:lvl9pPr marL="3886200" indent="-228600" eaLnBrk="0" fontAlgn="base" hangingPunct="0">
              <a:spcBef>
                <a:spcPct val="0"/>
              </a:spcBef>
              <a:spcAft>
                <a:spcPct val="0"/>
              </a:spcAft>
              <a:defRPr sz="2200">
                <a:solidFill>
                  <a:schemeClr val="tx1"/>
                </a:solidFill>
                <a:latin typeface="Arial" charset="0"/>
              </a:defRPr>
            </a:lvl9pPr>
          </a:lstStyle>
          <a:p>
            <a:pPr eaLnBrk="1" hangingPunct="1">
              <a:spcAft>
                <a:spcPts val="1800"/>
              </a:spcAft>
            </a:pPr>
            <a:r>
              <a:rPr lang="en-US" sz="3000" b="1">
                <a:latin typeface="Arial" panose="020B0604020202020204" pitchFamily="34" charset="0"/>
                <a:cs typeface="Arial" panose="020B0604020202020204" pitchFamily="34" charset="0"/>
              </a:rPr>
              <a:t>Figure 1: </a:t>
            </a:r>
            <a:r>
              <a:rPr lang="en-US" sz="3000">
                <a:latin typeface="Arial" panose="020B0604020202020204" pitchFamily="34" charset="0"/>
                <a:cs typeface="Arial" panose="020B0604020202020204" pitchFamily="34" charset="0"/>
              </a:rPr>
              <a:t>An example plot of a region-of-interest (ROI).</a:t>
            </a:r>
            <a:endParaRPr lang="en-US" sz="3000" b="1">
              <a:latin typeface="Arial" panose="020B0604020202020204" pitchFamily="34" charset="0"/>
              <a:cs typeface="Arial" panose="020B0604020202020204" pitchFamily="34" charset="0"/>
            </a:endParaRPr>
          </a:p>
        </p:txBody>
      </p:sp>
      <p:sp>
        <p:nvSpPr>
          <p:cNvPr id="88" name="Text Box 189">
            <a:extLst>
              <a:ext uri="{FF2B5EF4-FFF2-40B4-BE49-F238E27FC236}">
                <a16:creationId xmlns:a16="http://schemas.microsoft.com/office/drawing/2014/main" id="{2D4D7E0F-03B0-161F-6752-C8A243A52EDF}"/>
              </a:ext>
            </a:extLst>
          </p:cNvPr>
          <p:cNvSpPr txBox="1">
            <a:spLocks noChangeArrowheads="1"/>
          </p:cNvSpPr>
          <p:nvPr/>
        </p:nvSpPr>
        <p:spPr bwMode="auto">
          <a:xfrm>
            <a:off x="615260" y="19855458"/>
            <a:ext cx="14042122" cy="4216492"/>
          </a:xfrm>
          <a:prstGeom prst="rect">
            <a:avLst/>
          </a:prstGeom>
          <a:noFill/>
          <a:ln w="12700">
            <a:noFill/>
          </a:ln>
          <a:effectLst/>
        </p:spPr>
        <p:txBody>
          <a:bodyPr wrap="square" lIns="137137" tIns="137137" rIns="137137" bIns="137137">
            <a:spAutoFit/>
          </a:bodyPr>
          <a:lstStyle>
            <a:lvl1pPr eaLnBrk="0" hangingPunct="0">
              <a:defRPr sz="2200">
                <a:solidFill>
                  <a:schemeClr val="tx1"/>
                </a:solidFill>
                <a:latin typeface="Arial" charset="0"/>
              </a:defRPr>
            </a:lvl1pPr>
            <a:lvl2pPr marL="742950" indent="-285750" eaLnBrk="0" hangingPunct="0">
              <a:defRPr sz="2200">
                <a:solidFill>
                  <a:schemeClr val="tx1"/>
                </a:solidFill>
                <a:latin typeface="Arial" charset="0"/>
              </a:defRPr>
            </a:lvl2pPr>
            <a:lvl3pPr marL="1143000" indent="-228600" eaLnBrk="0" hangingPunct="0">
              <a:defRPr sz="2200">
                <a:solidFill>
                  <a:schemeClr val="tx1"/>
                </a:solidFill>
                <a:latin typeface="Arial" charset="0"/>
              </a:defRPr>
            </a:lvl3pPr>
            <a:lvl4pPr marL="1600200" indent="-228600" eaLnBrk="0" hangingPunct="0">
              <a:defRPr sz="2200">
                <a:solidFill>
                  <a:schemeClr val="tx1"/>
                </a:solidFill>
                <a:latin typeface="Arial" charset="0"/>
              </a:defRPr>
            </a:lvl4pPr>
            <a:lvl5pPr marL="2057400" indent="-228600" eaLnBrk="0" hangingPunct="0">
              <a:defRPr sz="2200">
                <a:solidFill>
                  <a:schemeClr val="tx1"/>
                </a:solidFill>
                <a:latin typeface="Arial" charset="0"/>
              </a:defRPr>
            </a:lvl5pPr>
            <a:lvl6pPr marL="2514600" indent="-228600" eaLnBrk="0" fontAlgn="base" hangingPunct="0">
              <a:spcBef>
                <a:spcPct val="0"/>
              </a:spcBef>
              <a:spcAft>
                <a:spcPct val="0"/>
              </a:spcAft>
              <a:defRPr sz="2200">
                <a:solidFill>
                  <a:schemeClr val="tx1"/>
                </a:solidFill>
                <a:latin typeface="Arial" charset="0"/>
              </a:defRPr>
            </a:lvl6pPr>
            <a:lvl7pPr marL="2971800" indent="-228600" eaLnBrk="0" fontAlgn="base" hangingPunct="0">
              <a:spcBef>
                <a:spcPct val="0"/>
              </a:spcBef>
              <a:spcAft>
                <a:spcPct val="0"/>
              </a:spcAft>
              <a:defRPr sz="2200">
                <a:solidFill>
                  <a:schemeClr val="tx1"/>
                </a:solidFill>
                <a:latin typeface="Arial" charset="0"/>
              </a:defRPr>
            </a:lvl7pPr>
            <a:lvl8pPr marL="3429000" indent="-228600" eaLnBrk="0" fontAlgn="base" hangingPunct="0">
              <a:spcBef>
                <a:spcPct val="0"/>
              </a:spcBef>
              <a:spcAft>
                <a:spcPct val="0"/>
              </a:spcAft>
              <a:defRPr sz="2200">
                <a:solidFill>
                  <a:schemeClr val="tx1"/>
                </a:solidFill>
                <a:latin typeface="Arial" charset="0"/>
              </a:defRPr>
            </a:lvl8pPr>
            <a:lvl9pPr marL="3886200" indent="-228600" eaLnBrk="0" fontAlgn="base" hangingPunct="0">
              <a:spcBef>
                <a:spcPct val="0"/>
              </a:spcBef>
              <a:spcAft>
                <a:spcPct val="0"/>
              </a:spcAft>
              <a:defRPr sz="2200">
                <a:solidFill>
                  <a:schemeClr val="tx1"/>
                </a:solidFill>
                <a:latin typeface="Arial" charset="0"/>
              </a:defRPr>
            </a:lvl9pPr>
          </a:lstStyle>
          <a:p>
            <a:pPr rtl="0">
              <a:spcBef>
                <a:spcPts val="0"/>
              </a:spcBef>
              <a:spcAft>
                <a:spcPts val="0"/>
              </a:spcAft>
            </a:pPr>
            <a:r>
              <a:rPr lang="en-US" sz="3200" b="0" i="0" u="none" strike="noStrike">
                <a:effectLst/>
                <a:latin typeface="Arial" panose="020B0604020202020204" pitchFamily="34" charset="0"/>
              </a:rPr>
              <a:t>The question under consideration is: </a:t>
            </a:r>
            <a:r>
              <a:rPr lang="en-US" sz="3200" i="0" u="none" strike="noStrike">
                <a:effectLst/>
                <a:latin typeface="Arial" panose="020B0604020202020204" pitchFamily="34" charset="0"/>
              </a:rPr>
              <a:t>What insights can unsupervised clustering of lung cancer patients using spatial biomarkers provide about associations in patient metadata? </a:t>
            </a:r>
            <a:endParaRPr lang="en-US" sz="3200">
              <a:effectLst/>
            </a:endParaRPr>
          </a:p>
          <a:p>
            <a:pPr rtl="0">
              <a:spcBef>
                <a:spcPts val="0"/>
              </a:spcBef>
              <a:spcAft>
                <a:spcPts val="0"/>
              </a:spcAft>
            </a:pPr>
            <a:br>
              <a:rPr lang="en-US" sz="3200" b="0">
                <a:effectLst/>
              </a:rPr>
            </a:br>
            <a:r>
              <a:rPr lang="en-US" sz="3200" b="0" i="0" u="none" strike="noStrike">
                <a:effectLst/>
                <a:latin typeface="Arial" panose="020B0604020202020204" pitchFamily="34" charset="0"/>
              </a:rPr>
              <a:t>Lung cancer is the leading cause of cancer deaths both in the US and globally. Researching the potential associations between spatial patterns and other features in patient data can help improve patient outcomes while also finding potential prognostic and predictive biomarkers.  </a:t>
            </a:r>
            <a:endParaRPr lang="en-US" sz="3200">
              <a:latin typeface="Arial" panose="020B0604020202020204" pitchFamily="34" charset="0"/>
              <a:cs typeface="Arial" panose="020B0604020202020204" pitchFamily="34" charset="0"/>
            </a:endParaRPr>
          </a:p>
        </p:txBody>
      </p:sp>
      <p:sp>
        <p:nvSpPr>
          <p:cNvPr id="90" name="Round Same Side Corner Rectangle 89">
            <a:extLst>
              <a:ext uri="{FF2B5EF4-FFF2-40B4-BE49-F238E27FC236}">
                <a16:creationId xmlns:a16="http://schemas.microsoft.com/office/drawing/2014/main" id="{C25FA50C-CCA0-DD05-007D-8487121B167C}"/>
              </a:ext>
            </a:extLst>
          </p:cNvPr>
          <p:cNvSpPr/>
          <p:nvPr/>
        </p:nvSpPr>
        <p:spPr>
          <a:xfrm>
            <a:off x="29216834" y="21671291"/>
            <a:ext cx="13941602" cy="943200"/>
          </a:xfrm>
          <a:prstGeom prst="round2SameRect">
            <a:avLst/>
          </a:prstGeom>
          <a:solidFill>
            <a:schemeClr val="accent1"/>
          </a:solidFill>
          <a:ln w="12700"/>
          <a:effectLst/>
        </p:spPr>
        <p:style>
          <a:lnRef idx="2">
            <a:schemeClr val="accent1">
              <a:shade val="50000"/>
            </a:schemeClr>
          </a:lnRef>
          <a:fillRef idx="1">
            <a:schemeClr val="accent1"/>
          </a:fillRef>
          <a:effectRef idx="0">
            <a:schemeClr val="accent1"/>
          </a:effectRef>
          <a:fontRef idx="minor">
            <a:schemeClr val="lt1"/>
          </a:fontRef>
        </p:style>
        <p:txBody>
          <a:bodyPr lIns="68568" tIns="34284" rIns="68568" bIns="34284" rtlCol="0" anchor="ctr"/>
          <a:lstStyle/>
          <a:p>
            <a:pPr algn="ctr"/>
            <a:r>
              <a:rPr lang="en-US" sz="5400" b="1">
                <a:solidFill>
                  <a:schemeClr val="bg1">
                    <a:lumMod val="95000"/>
                  </a:schemeClr>
                </a:solidFill>
                <a:latin typeface="Myriad Pro" panose="020B0503030403020204" pitchFamily="34" charset="0"/>
              </a:rPr>
              <a:t>Limitations</a:t>
            </a:r>
          </a:p>
        </p:txBody>
      </p:sp>
      <p:sp>
        <p:nvSpPr>
          <p:cNvPr id="92" name="Text Box 189">
            <a:extLst>
              <a:ext uri="{FF2B5EF4-FFF2-40B4-BE49-F238E27FC236}">
                <a16:creationId xmlns:a16="http://schemas.microsoft.com/office/drawing/2014/main" id="{3459D8C4-6BA3-7516-6F40-9C7336D37993}"/>
              </a:ext>
            </a:extLst>
          </p:cNvPr>
          <p:cNvSpPr txBox="1">
            <a:spLocks noChangeArrowheads="1"/>
          </p:cNvSpPr>
          <p:nvPr/>
        </p:nvSpPr>
        <p:spPr bwMode="auto">
          <a:xfrm>
            <a:off x="29216834" y="22702554"/>
            <a:ext cx="13941602" cy="1985112"/>
          </a:xfrm>
          <a:prstGeom prst="rect">
            <a:avLst/>
          </a:prstGeom>
          <a:solidFill>
            <a:schemeClr val="bg1"/>
          </a:solidFill>
          <a:ln w="12700">
            <a:noFill/>
          </a:ln>
          <a:effectLst/>
        </p:spPr>
        <p:txBody>
          <a:bodyPr wrap="square" lIns="137137" tIns="137137" rIns="137137" bIns="137137">
            <a:spAutoFit/>
          </a:bodyPr>
          <a:lstStyle>
            <a:lvl1pPr eaLnBrk="0" hangingPunct="0">
              <a:defRPr sz="2200">
                <a:solidFill>
                  <a:schemeClr val="tx1"/>
                </a:solidFill>
                <a:latin typeface="Arial" charset="0"/>
              </a:defRPr>
            </a:lvl1pPr>
            <a:lvl2pPr marL="742950" indent="-285750" eaLnBrk="0" hangingPunct="0">
              <a:defRPr sz="2200">
                <a:solidFill>
                  <a:schemeClr val="tx1"/>
                </a:solidFill>
                <a:latin typeface="Arial" charset="0"/>
              </a:defRPr>
            </a:lvl2pPr>
            <a:lvl3pPr marL="1143000" indent="-228600" eaLnBrk="0" hangingPunct="0">
              <a:defRPr sz="2200">
                <a:solidFill>
                  <a:schemeClr val="tx1"/>
                </a:solidFill>
                <a:latin typeface="Arial" charset="0"/>
              </a:defRPr>
            </a:lvl3pPr>
            <a:lvl4pPr marL="1600200" indent="-228600" eaLnBrk="0" hangingPunct="0">
              <a:defRPr sz="2200">
                <a:solidFill>
                  <a:schemeClr val="tx1"/>
                </a:solidFill>
                <a:latin typeface="Arial" charset="0"/>
              </a:defRPr>
            </a:lvl4pPr>
            <a:lvl5pPr marL="2057400" indent="-228600" eaLnBrk="0" hangingPunct="0">
              <a:defRPr sz="2200">
                <a:solidFill>
                  <a:schemeClr val="tx1"/>
                </a:solidFill>
                <a:latin typeface="Arial" charset="0"/>
              </a:defRPr>
            </a:lvl5pPr>
            <a:lvl6pPr marL="2514600" indent="-228600" eaLnBrk="0" fontAlgn="base" hangingPunct="0">
              <a:spcBef>
                <a:spcPct val="0"/>
              </a:spcBef>
              <a:spcAft>
                <a:spcPct val="0"/>
              </a:spcAft>
              <a:defRPr sz="2200">
                <a:solidFill>
                  <a:schemeClr val="tx1"/>
                </a:solidFill>
                <a:latin typeface="Arial" charset="0"/>
              </a:defRPr>
            </a:lvl6pPr>
            <a:lvl7pPr marL="2971800" indent="-228600" eaLnBrk="0" fontAlgn="base" hangingPunct="0">
              <a:spcBef>
                <a:spcPct val="0"/>
              </a:spcBef>
              <a:spcAft>
                <a:spcPct val="0"/>
              </a:spcAft>
              <a:defRPr sz="2200">
                <a:solidFill>
                  <a:schemeClr val="tx1"/>
                </a:solidFill>
                <a:latin typeface="Arial" charset="0"/>
              </a:defRPr>
            </a:lvl7pPr>
            <a:lvl8pPr marL="3429000" indent="-228600" eaLnBrk="0" fontAlgn="base" hangingPunct="0">
              <a:spcBef>
                <a:spcPct val="0"/>
              </a:spcBef>
              <a:spcAft>
                <a:spcPct val="0"/>
              </a:spcAft>
              <a:defRPr sz="2200">
                <a:solidFill>
                  <a:schemeClr val="tx1"/>
                </a:solidFill>
                <a:latin typeface="Arial" charset="0"/>
              </a:defRPr>
            </a:lvl8pPr>
            <a:lvl9pPr marL="3886200" indent="-228600" eaLnBrk="0" fontAlgn="base" hangingPunct="0">
              <a:spcBef>
                <a:spcPct val="0"/>
              </a:spcBef>
              <a:spcAft>
                <a:spcPct val="0"/>
              </a:spcAft>
              <a:defRPr sz="2200">
                <a:solidFill>
                  <a:schemeClr val="tx1"/>
                </a:solidFill>
                <a:latin typeface="Arial" charset="0"/>
              </a:defRPr>
            </a:lvl9pPr>
          </a:lstStyle>
          <a:p>
            <a:pPr marL="857250" indent="-857250" eaLnBrk="1" hangingPunct="1">
              <a:spcAft>
                <a:spcPts val="1800"/>
              </a:spcAft>
              <a:buFont typeface="Arial" panose="020B0604020202020204" pitchFamily="34" charset="0"/>
              <a:buChar char="•"/>
            </a:pPr>
            <a:r>
              <a:rPr lang="en-US" sz="3200">
                <a:latin typeface="Arial" panose="020B0604020202020204" pitchFamily="34" charset="0"/>
                <a:cs typeface="Arial" panose="020B0604020202020204" pitchFamily="34" charset="0"/>
              </a:rPr>
              <a:t>Small sample size and limited diversity in patient demographic features reduced scope of association study.</a:t>
            </a:r>
          </a:p>
          <a:p>
            <a:pPr marL="857250" indent="-857250" eaLnBrk="1" hangingPunct="1">
              <a:spcAft>
                <a:spcPts val="1800"/>
              </a:spcAft>
              <a:buFont typeface="Arial" panose="020B0604020202020204" pitchFamily="34" charset="0"/>
              <a:buChar char="•"/>
            </a:pPr>
            <a:r>
              <a:rPr lang="en-US" sz="3200">
                <a:latin typeface="Arial" panose="020B0604020202020204" pitchFamily="34" charset="0"/>
                <a:cs typeface="Arial" panose="020B0604020202020204" pitchFamily="34" charset="0"/>
              </a:rPr>
              <a:t>Clustering by patient only allows for use of one image per patient.</a:t>
            </a:r>
          </a:p>
        </p:txBody>
      </p:sp>
      <p:pic>
        <p:nvPicPr>
          <p:cNvPr id="2050" name="Picture 2">
            <a:extLst>
              <a:ext uri="{FF2B5EF4-FFF2-40B4-BE49-F238E27FC236}">
                <a16:creationId xmlns:a16="http://schemas.microsoft.com/office/drawing/2014/main" id="{11E40077-F403-9F7B-90AE-628BF6F1308F}"/>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0330521" y="11171293"/>
            <a:ext cx="8305800" cy="5105400"/>
          </a:xfrm>
          <a:prstGeom prst="rect">
            <a:avLst/>
          </a:prstGeom>
          <a:noFill/>
          <a:extLst>
            <a:ext uri="{909E8E84-426E-40DD-AFC4-6F175D3DCCD1}">
              <a14:hiddenFill xmlns:a14="http://schemas.microsoft.com/office/drawing/2010/main">
                <a:solidFill>
                  <a:srgbClr val="FFFFFF"/>
                </a:solidFill>
              </a14:hiddenFill>
            </a:ext>
          </a:extLst>
        </p:spPr>
      </p:pic>
      <p:grpSp>
        <p:nvGrpSpPr>
          <p:cNvPr id="12" name="Group 11">
            <a:extLst>
              <a:ext uri="{FF2B5EF4-FFF2-40B4-BE49-F238E27FC236}">
                <a16:creationId xmlns:a16="http://schemas.microsoft.com/office/drawing/2014/main" id="{74CEDA73-136B-1779-C070-6C0E40339DF3}"/>
              </a:ext>
            </a:extLst>
          </p:cNvPr>
          <p:cNvGrpSpPr/>
          <p:nvPr/>
        </p:nvGrpSpPr>
        <p:grpSpPr>
          <a:xfrm>
            <a:off x="14925871" y="24982432"/>
            <a:ext cx="10601406" cy="7935967"/>
            <a:chOff x="14633331" y="24982433"/>
            <a:chExt cx="10893669" cy="7663590"/>
          </a:xfrm>
        </p:grpSpPr>
        <p:grpSp>
          <p:nvGrpSpPr>
            <p:cNvPr id="63" name="Group 62">
              <a:extLst>
                <a:ext uri="{FF2B5EF4-FFF2-40B4-BE49-F238E27FC236}">
                  <a16:creationId xmlns:a16="http://schemas.microsoft.com/office/drawing/2014/main" id="{1B330260-2D51-4A6E-559A-284EF727EBF3}"/>
                </a:ext>
              </a:extLst>
            </p:cNvPr>
            <p:cNvGrpSpPr/>
            <p:nvPr/>
          </p:nvGrpSpPr>
          <p:grpSpPr>
            <a:xfrm>
              <a:off x="14633331" y="24982433"/>
              <a:ext cx="10893669" cy="7663590"/>
              <a:chOff x="28598945" y="6914672"/>
              <a:chExt cx="9218670" cy="5701392"/>
            </a:xfrm>
          </p:grpSpPr>
          <p:pic>
            <p:nvPicPr>
              <p:cNvPr id="60" name="Picture 59" descr="A screenshot of a computer screen&#10;&#10;Description automatically generated">
                <a:extLst>
                  <a:ext uri="{FF2B5EF4-FFF2-40B4-BE49-F238E27FC236}">
                    <a16:creationId xmlns:a16="http://schemas.microsoft.com/office/drawing/2014/main" id="{5D0CF750-D42D-3BCD-2B11-337486DD4F32}"/>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28598945" y="6914672"/>
                <a:ext cx="9218670" cy="5701392"/>
              </a:xfrm>
              <a:prstGeom prst="rect">
                <a:avLst/>
              </a:prstGeom>
            </p:spPr>
          </p:pic>
          <p:sp>
            <p:nvSpPr>
              <p:cNvPr id="62" name="TextBox 61">
                <a:extLst>
                  <a:ext uri="{FF2B5EF4-FFF2-40B4-BE49-F238E27FC236}">
                    <a16:creationId xmlns:a16="http://schemas.microsoft.com/office/drawing/2014/main" id="{737B91EC-810B-2B0E-E05F-CB92205C93FF}"/>
                  </a:ext>
                </a:extLst>
              </p:cNvPr>
              <p:cNvSpPr txBox="1"/>
              <p:nvPr/>
            </p:nvSpPr>
            <p:spPr>
              <a:xfrm>
                <a:off x="29063121" y="12164924"/>
                <a:ext cx="5409690" cy="398006"/>
              </a:xfrm>
              <a:prstGeom prst="rect">
                <a:avLst/>
              </a:prstGeom>
              <a:solidFill>
                <a:srgbClr val="FFFFFF"/>
              </a:solidFill>
            </p:spPr>
            <p:txBody>
              <a:bodyPr wrap="square" rtlCol="0">
                <a:spAutoFit/>
              </a:bodyPr>
              <a:lstStyle/>
              <a:p>
                <a:endParaRPr lang="en-US" sz="3000"/>
              </a:p>
            </p:txBody>
          </p:sp>
        </p:grpSp>
        <p:sp>
          <p:nvSpPr>
            <p:cNvPr id="3" name="Rectangle 2">
              <a:extLst>
                <a:ext uri="{FF2B5EF4-FFF2-40B4-BE49-F238E27FC236}">
                  <a16:creationId xmlns:a16="http://schemas.microsoft.com/office/drawing/2014/main" id="{1E6883B8-D9BA-47EF-ED12-078EFA7C69BF}"/>
                </a:ext>
              </a:extLst>
            </p:cNvPr>
            <p:cNvSpPr/>
            <p:nvPr/>
          </p:nvSpPr>
          <p:spPr>
            <a:xfrm>
              <a:off x="19176642" y="27586546"/>
              <a:ext cx="1777285" cy="2240924"/>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C5977B41-42E6-8CB8-8E34-F540956956C2}"/>
                </a:ext>
              </a:extLst>
            </p:cNvPr>
            <p:cNvSpPr/>
            <p:nvPr/>
          </p:nvSpPr>
          <p:spPr>
            <a:xfrm>
              <a:off x="18378152" y="29825323"/>
              <a:ext cx="770148" cy="1246563"/>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2052" name="Picture 4">
            <a:extLst>
              <a:ext uri="{FF2B5EF4-FFF2-40B4-BE49-F238E27FC236}">
                <a16:creationId xmlns:a16="http://schemas.microsoft.com/office/drawing/2014/main" id="{CE5FD2E3-150D-D034-EED3-A8BDF7C34BDD}"/>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9964614" y="16465719"/>
            <a:ext cx="8305800" cy="5086350"/>
          </a:xfrm>
          <a:prstGeom prst="rect">
            <a:avLst/>
          </a:prstGeom>
          <a:noFill/>
          <a:extLst>
            <a:ext uri="{909E8E84-426E-40DD-AFC4-6F175D3DCCD1}">
              <a14:hiddenFill xmlns:a14="http://schemas.microsoft.com/office/drawing/2010/main">
                <a:solidFill>
                  <a:srgbClr val="FFFFFF"/>
                </a:solidFill>
              </a14:hiddenFill>
            </a:ext>
          </a:extLst>
        </p:spPr>
      </p:pic>
      <p:sp>
        <p:nvSpPr>
          <p:cNvPr id="13" name="Rectangle 12">
            <a:extLst>
              <a:ext uri="{FF2B5EF4-FFF2-40B4-BE49-F238E27FC236}">
                <a16:creationId xmlns:a16="http://schemas.microsoft.com/office/drawing/2014/main" id="{DA30EBC0-4FDD-4AC9-3B94-BABDA30F7465}"/>
              </a:ext>
            </a:extLst>
          </p:cNvPr>
          <p:cNvSpPr/>
          <p:nvPr/>
        </p:nvSpPr>
        <p:spPr>
          <a:xfrm>
            <a:off x="30330521" y="17700083"/>
            <a:ext cx="6790911" cy="787309"/>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576B68F3-1578-5F21-C287-35792D4FC735}"/>
              </a:ext>
            </a:extLst>
          </p:cNvPr>
          <p:cNvSpPr/>
          <p:nvPr/>
        </p:nvSpPr>
        <p:spPr>
          <a:xfrm>
            <a:off x="30330521" y="20162545"/>
            <a:ext cx="6790911" cy="787309"/>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descr="A diagram of a cell type&#10;&#10;Description automatically generated">
            <a:extLst>
              <a:ext uri="{FF2B5EF4-FFF2-40B4-BE49-F238E27FC236}">
                <a16:creationId xmlns:a16="http://schemas.microsoft.com/office/drawing/2014/main" id="{D6EED851-D5D5-616D-16B7-FDE2C9C97056}"/>
              </a:ext>
            </a:extLst>
          </p:cNvPr>
          <p:cNvPicPr>
            <a:picLocks noChangeAspect="1"/>
          </p:cNvPicPr>
          <p:nvPr/>
        </p:nvPicPr>
        <p:blipFill rotWithShape="1">
          <a:blip r:embed="rId15">
            <a:extLst>
              <a:ext uri="{28A0092B-C50C-407E-A947-70E740481C1C}">
                <a14:useLocalDpi xmlns:a14="http://schemas.microsoft.com/office/drawing/2010/main" val="0"/>
              </a:ext>
            </a:extLst>
          </a:blip>
          <a:srcRect t="3065" b="43815"/>
          <a:stretch/>
        </p:blipFill>
        <p:spPr>
          <a:xfrm>
            <a:off x="15471432" y="12705458"/>
            <a:ext cx="12948335" cy="3868992"/>
          </a:xfrm>
          <a:prstGeom prst="rect">
            <a:avLst/>
          </a:prstGeom>
        </p:spPr>
      </p:pic>
      <p:sp>
        <p:nvSpPr>
          <p:cNvPr id="128" name="Round Same Side Corner Rectangle 127"/>
          <p:cNvSpPr/>
          <p:nvPr/>
        </p:nvSpPr>
        <p:spPr>
          <a:xfrm>
            <a:off x="14915448" y="11836400"/>
            <a:ext cx="13942800" cy="765712"/>
          </a:xfrm>
          <a:prstGeom prst="round2SameRect">
            <a:avLst/>
          </a:prstGeom>
          <a:no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lIns="68568" tIns="34284" rIns="68568" bIns="34284" rtlCol="0" anchor="ctr"/>
          <a:lstStyle/>
          <a:p>
            <a:r>
              <a:rPr lang="en-US" sz="4800" b="1">
                <a:solidFill>
                  <a:schemeClr val="accent1"/>
                </a:solidFill>
                <a:latin typeface="Myriad Pro" panose="020B0503030403020204" pitchFamily="34" charset="0"/>
              </a:rPr>
              <a:t>Selecting Data for Clustering Algorithm</a:t>
            </a:r>
          </a:p>
        </p:txBody>
      </p:sp>
      <p:sp>
        <p:nvSpPr>
          <p:cNvPr id="7" name="Round Same Side Corner Rectangle 6">
            <a:extLst>
              <a:ext uri="{FF2B5EF4-FFF2-40B4-BE49-F238E27FC236}">
                <a16:creationId xmlns:a16="http://schemas.microsoft.com/office/drawing/2014/main" id="{B2525C0D-DABF-2AF9-50F2-3B750A3199EE}"/>
              </a:ext>
            </a:extLst>
          </p:cNvPr>
          <p:cNvSpPr/>
          <p:nvPr/>
        </p:nvSpPr>
        <p:spPr>
          <a:xfrm>
            <a:off x="14915448" y="16433802"/>
            <a:ext cx="13942800" cy="765712"/>
          </a:xfrm>
          <a:prstGeom prst="round2SameRect">
            <a:avLst/>
          </a:prstGeom>
          <a:no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lIns="68568" tIns="34284" rIns="68568" bIns="34284" rtlCol="0" anchor="ctr"/>
          <a:lstStyle/>
          <a:p>
            <a:r>
              <a:rPr lang="en-US" sz="4800" b="1">
                <a:solidFill>
                  <a:schemeClr val="accent1"/>
                </a:solidFill>
                <a:latin typeface="Myriad Pro" panose="020B0503030403020204" pitchFamily="34" charset="0"/>
              </a:rPr>
              <a:t>Dendrogram</a:t>
            </a:r>
          </a:p>
        </p:txBody>
      </p:sp>
      <p:sp>
        <p:nvSpPr>
          <p:cNvPr id="19" name="TextBox 18">
            <a:extLst>
              <a:ext uri="{FF2B5EF4-FFF2-40B4-BE49-F238E27FC236}">
                <a16:creationId xmlns:a16="http://schemas.microsoft.com/office/drawing/2014/main" id="{9797504B-9510-EDF7-399A-4E2081E973BC}"/>
              </a:ext>
            </a:extLst>
          </p:cNvPr>
          <p:cNvSpPr txBox="1"/>
          <p:nvPr/>
        </p:nvSpPr>
        <p:spPr>
          <a:xfrm>
            <a:off x="26748393" y="17349020"/>
            <a:ext cx="2517569" cy="1446550"/>
          </a:xfrm>
          <a:prstGeom prst="rect">
            <a:avLst/>
          </a:prstGeom>
          <a:noFill/>
        </p:spPr>
        <p:txBody>
          <a:bodyPr wrap="square" rtlCol="0">
            <a:spAutoFit/>
          </a:bodyPr>
          <a:lstStyle/>
          <a:p>
            <a:pPr marL="342900" indent="-342900">
              <a:buFont typeface="Wingdings" pitchFamily="2" charset="2"/>
              <a:buChar char="§"/>
            </a:pPr>
            <a:r>
              <a:rPr lang="en-US" sz="2200">
                <a:solidFill>
                  <a:srgbClr val="96CA01"/>
                </a:solidFill>
                <a:latin typeface="Arial" panose="020B0604020202020204" pitchFamily="34" charset="0"/>
                <a:cs typeface="Arial" panose="020B0604020202020204" pitchFamily="34" charset="0"/>
              </a:rPr>
              <a:t>Cluster 1 (68)</a:t>
            </a:r>
          </a:p>
          <a:p>
            <a:pPr marL="342900" indent="-342900">
              <a:buFont typeface="Wingdings" pitchFamily="2" charset="2"/>
              <a:buChar char="§"/>
            </a:pPr>
            <a:r>
              <a:rPr lang="en-US" sz="2200">
                <a:solidFill>
                  <a:srgbClr val="FF9289"/>
                </a:solidFill>
                <a:latin typeface="Arial" panose="020B0604020202020204" pitchFamily="34" charset="0"/>
                <a:cs typeface="Arial" panose="020B0604020202020204" pitchFamily="34" charset="0"/>
              </a:rPr>
              <a:t>Cluster 2 (18)</a:t>
            </a:r>
          </a:p>
          <a:p>
            <a:pPr marL="342900" indent="-342900">
              <a:buFont typeface="Wingdings" pitchFamily="2" charset="2"/>
              <a:buChar char="§"/>
            </a:pPr>
            <a:r>
              <a:rPr lang="en-US" sz="2200">
                <a:solidFill>
                  <a:srgbClr val="00DCE2"/>
                </a:solidFill>
                <a:latin typeface="Arial" panose="020B0604020202020204" pitchFamily="34" charset="0"/>
                <a:cs typeface="Arial" panose="020B0604020202020204" pitchFamily="34" charset="0"/>
              </a:rPr>
              <a:t>Cluster 3 (3)</a:t>
            </a:r>
          </a:p>
          <a:p>
            <a:pPr marL="342900" indent="-342900">
              <a:buFont typeface="Wingdings" pitchFamily="2" charset="2"/>
              <a:buChar char="§"/>
            </a:pPr>
            <a:r>
              <a:rPr lang="en-US" sz="2200">
                <a:solidFill>
                  <a:srgbClr val="E299FF"/>
                </a:solidFill>
                <a:latin typeface="Arial" panose="020B0604020202020204" pitchFamily="34" charset="0"/>
                <a:cs typeface="Arial" panose="020B0604020202020204" pitchFamily="34" charset="0"/>
              </a:rPr>
              <a:t>Cluster 4 (47)</a:t>
            </a:r>
          </a:p>
        </p:txBody>
      </p:sp>
      <p:sp>
        <p:nvSpPr>
          <p:cNvPr id="58" name="Text Box 189">
            <a:extLst>
              <a:ext uri="{FF2B5EF4-FFF2-40B4-BE49-F238E27FC236}">
                <a16:creationId xmlns:a16="http://schemas.microsoft.com/office/drawing/2014/main" id="{6234F502-FB53-60DF-C01F-EE67351B0C4D}"/>
              </a:ext>
            </a:extLst>
          </p:cNvPr>
          <p:cNvSpPr txBox="1">
            <a:spLocks noChangeArrowheads="1"/>
          </p:cNvSpPr>
          <p:nvPr/>
        </p:nvSpPr>
        <p:spPr bwMode="auto">
          <a:xfrm>
            <a:off x="25204784" y="24609334"/>
            <a:ext cx="4168427" cy="7663590"/>
          </a:xfrm>
          <a:prstGeom prst="rect">
            <a:avLst/>
          </a:prstGeom>
          <a:noFill/>
          <a:ln w="12700">
            <a:noFill/>
          </a:ln>
          <a:effectLst/>
        </p:spPr>
        <p:txBody>
          <a:bodyPr wrap="square" lIns="137137" tIns="137137" rIns="137137" bIns="137137">
            <a:spAutoFit/>
          </a:bodyPr>
          <a:lstStyle>
            <a:lvl1pPr eaLnBrk="0" hangingPunct="0">
              <a:defRPr sz="2200">
                <a:solidFill>
                  <a:schemeClr val="tx1"/>
                </a:solidFill>
                <a:latin typeface="Arial" charset="0"/>
              </a:defRPr>
            </a:lvl1pPr>
            <a:lvl2pPr marL="742950" indent="-285750" eaLnBrk="0" hangingPunct="0">
              <a:defRPr sz="2200">
                <a:solidFill>
                  <a:schemeClr val="tx1"/>
                </a:solidFill>
                <a:latin typeface="Arial" charset="0"/>
              </a:defRPr>
            </a:lvl2pPr>
            <a:lvl3pPr marL="1143000" indent="-228600" eaLnBrk="0" hangingPunct="0">
              <a:defRPr sz="2200">
                <a:solidFill>
                  <a:schemeClr val="tx1"/>
                </a:solidFill>
                <a:latin typeface="Arial" charset="0"/>
              </a:defRPr>
            </a:lvl3pPr>
            <a:lvl4pPr marL="1600200" indent="-228600" eaLnBrk="0" hangingPunct="0">
              <a:defRPr sz="2200">
                <a:solidFill>
                  <a:schemeClr val="tx1"/>
                </a:solidFill>
                <a:latin typeface="Arial" charset="0"/>
              </a:defRPr>
            </a:lvl4pPr>
            <a:lvl5pPr marL="2057400" indent="-228600" eaLnBrk="0" hangingPunct="0">
              <a:defRPr sz="2200">
                <a:solidFill>
                  <a:schemeClr val="tx1"/>
                </a:solidFill>
                <a:latin typeface="Arial" charset="0"/>
              </a:defRPr>
            </a:lvl5pPr>
            <a:lvl6pPr marL="2514600" indent="-228600" eaLnBrk="0" fontAlgn="base" hangingPunct="0">
              <a:spcBef>
                <a:spcPct val="0"/>
              </a:spcBef>
              <a:spcAft>
                <a:spcPct val="0"/>
              </a:spcAft>
              <a:defRPr sz="2200">
                <a:solidFill>
                  <a:schemeClr val="tx1"/>
                </a:solidFill>
                <a:latin typeface="Arial" charset="0"/>
              </a:defRPr>
            </a:lvl6pPr>
            <a:lvl7pPr marL="2971800" indent="-228600" eaLnBrk="0" fontAlgn="base" hangingPunct="0">
              <a:spcBef>
                <a:spcPct val="0"/>
              </a:spcBef>
              <a:spcAft>
                <a:spcPct val="0"/>
              </a:spcAft>
              <a:defRPr sz="2200">
                <a:solidFill>
                  <a:schemeClr val="tx1"/>
                </a:solidFill>
                <a:latin typeface="Arial" charset="0"/>
              </a:defRPr>
            </a:lvl7pPr>
            <a:lvl8pPr marL="3429000" indent="-228600" eaLnBrk="0" fontAlgn="base" hangingPunct="0">
              <a:spcBef>
                <a:spcPct val="0"/>
              </a:spcBef>
              <a:spcAft>
                <a:spcPct val="0"/>
              </a:spcAft>
              <a:defRPr sz="2200">
                <a:solidFill>
                  <a:schemeClr val="tx1"/>
                </a:solidFill>
                <a:latin typeface="Arial" charset="0"/>
              </a:defRPr>
            </a:lvl8pPr>
            <a:lvl9pPr marL="3886200" indent="-228600" eaLnBrk="0" fontAlgn="base" hangingPunct="0">
              <a:spcBef>
                <a:spcPct val="0"/>
              </a:spcBef>
              <a:spcAft>
                <a:spcPct val="0"/>
              </a:spcAft>
              <a:defRPr sz="2200">
                <a:solidFill>
                  <a:schemeClr val="tx1"/>
                </a:solidFill>
                <a:latin typeface="Arial" charset="0"/>
              </a:defRPr>
            </a:lvl9pPr>
          </a:lstStyle>
          <a:p>
            <a:pPr eaLnBrk="1" hangingPunct="1">
              <a:spcAft>
                <a:spcPts val="1800"/>
              </a:spcAft>
            </a:pPr>
            <a:r>
              <a:rPr lang="en-US" sz="3200" b="1">
                <a:latin typeface="Arial" panose="020B0604020202020204" pitchFamily="34" charset="0"/>
                <a:cs typeface="Arial" panose="020B0604020202020204" pitchFamily="34" charset="0"/>
              </a:rPr>
              <a:t>Figure 3: </a:t>
            </a:r>
            <a:r>
              <a:rPr lang="en-US" sz="3200">
                <a:latin typeface="Arial" panose="020B0604020202020204" pitchFamily="34" charset="0"/>
                <a:cs typeface="Arial" panose="020B0604020202020204" pitchFamily="34" charset="0"/>
              </a:rPr>
              <a:t>Heatmap showing relative scaled values of spatial features and cell type proportions for each cluster. Notable features include generally lower k-cross values for immune cell interactions in cluster 4, and cluster 2 has lower k-cross values for tumor cell interactions.</a:t>
            </a:r>
            <a:endParaRPr lang="en-US" sz="3200" b="1">
              <a:latin typeface="Arial" panose="020B0604020202020204" pitchFamily="34" charset="0"/>
              <a:cs typeface="Arial" panose="020B0604020202020204" pitchFamily="34" charset="0"/>
            </a:endParaRPr>
          </a:p>
        </p:txBody>
      </p:sp>
      <p:sp>
        <p:nvSpPr>
          <p:cNvPr id="77" name="Round Same Side Corner Rectangle 76">
            <a:extLst>
              <a:ext uri="{FF2B5EF4-FFF2-40B4-BE49-F238E27FC236}">
                <a16:creationId xmlns:a16="http://schemas.microsoft.com/office/drawing/2014/main" id="{9814FDBE-E91A-D6FA-8144-FF657064F0AF}"/>
              </a:ext>
            </a:extLst>
          </p:cNvPr>
          <p:cNvSpPr/>
          <p:nvPr/>
        </p:nvSpPr>
        <p:spPr>
          <a:xfrm>
            <a:off x="615260" y="19011494"/>
            <a:ext cx="13942800" cy="765712"/>
          </a:xfrm>
          <a:prstGeom prst="round2SameRect">
            <a:avLst/>
          </a:prstGeom>
          <a:no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lIns="68568" tIns="34284" rIns="68568" bIns="34284" rtlCol="0" anchor="ctr"/>
          <a:lstStyle/>
          <a:p>
            <a:r>
              <a:rPr lang="en-US" sz="4800" b="1">
                <a:solidFill>
                  <a:schemeClr val="accent1"/>
                </a:solidFill>
                <a:latin typeface="Myriad Pro" panose="020B0503030403020204" pitchFamily="34" charset="0"/>
              </a:rPr>
              <a:t>Motivation and Question</a:t>
            </a:r>
          </a:p>
        </p:txBody>
      </p:sp>
      <p:pic>
        <p:nvPicPr>
          <p:cNvPr id="2056" name="Picture 8" descr="Women in Big Data at Michigan 2018 | MIDAS">
            <a:extLst>
              <a:ext uri="{FF2B5EF4-FFF2-40B4-BE49-F238E27FC236}">
                <a16:creationId xmlns:a16="http://schemas.microsoft.com/office/drawing/2014/main" id="{31B7C871-EEC5-71C4-D25D-9529AB0F4976}"/>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2828097" y="2624248"/>
            <a:ext cx="10342304" cy="18202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51251862"/>
      </p:ext>
    </p:extLst>
  </p:cSld>
  <p:clrMapOvr>
    <a:masterClrMapping/>
  </p:clrMapOvr>
  <p:extLst>
    <p:ext uri="{6950BFC3-D8DA-4A85-94F7-54DA5524770B}">
      <p188:commentRel xmlns:p188="http://schemas.microsoft.com/office/powerpoint/2018/8/main" r:id="rId3"/>
    </p:ext>
  </p:extLst>
</p:sld>
</file>

<file path=ppt/theme/theme1.xml><?xml version="1.0" encoding="utf-8"?>
<a:theme xmlns:a="http://schemas.openxmlformats.org/drawingml/2006/main" name="Office Theme">
  <a:themeElements>
    <a:clrScheme name="Custom 2">
      <a:dk1>
        <a:sysClr val="windowText" lastClr="000000"/>
      </a:dk1>
      <a:lt1>
        <a:sysClr val="window" lastClr="FFFFFF"/>
      </a:lt1>
      <a:dk2>
        <a:srgbClr val="1F497D"/>
      </a:dk2>
      <a:lt2>
        <a:srgbClr val="EEECE1"/>
      </a:lt2>
      <a:accent1>
        <a:srgbClr val="002966"/>
      </a:accent1>
      <a:accent2>
        <a:srgbClr val="FFD100"/>
      </a:accent2>
      <a:accent3>
        <a:srgbClr val="9BBB59"/>
      </a:accent3>
      <a:accent4>
        <a:srgbClr val="8064A2"/>
      </a:accent4>
      <a:accent5>
        <a:srgbClr val="4BACC6"/>
      </a:accent5>
      <a:accent6>
        <a:srgbClr val="F79646"/>
      </a:accent6>
      <a:hlink>
        <a:srgbClr val="0000FF"/>
      </a:hlink>
      <a:folHlink>
        <a:srgbClr val="800080"/>
      </a:folHlink>
    </a:clrScheme>
    <a:fontScheme name="Custom 2">
      <a:majorFont>
        <a:latin typeface="Helvetica"/>
        <a:ea typeface=""/>
        <a:cs typeface=""/>
      </a:majorFont>
      <a:minorFont>
        <a:latin typeface="Garamond"/>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944</Words>
  <Application>Microsoft Macintosh PowerPoint</Application>
  <PresentationFormat>Custom</PresentationFormat>
  <Paragraphs>57</Paragraphs>
  <Slides>1</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vt:i4>
      </vt:variant>
    </vt:vector>
  </HeadingPairs>
  <TitlesOfParts>
    <vt:vector size="9" baseType="lpstr">
      <vt:lpstr>Myriad Pro</vt:lpstr>
      <vt:lpstr>Arial</vt:lpstr>
      <vt:lpstr>Calibri</vt:lpstr>
      <vt:lpstr>Cambria Math</vt:lpstr>
      <vt:lpstr>Garamond</vt:lpstr>
      <vt:lpstr>Helvetica</vt:lpstr>
      <vt:lpstr>Wingdings</vt:lpstr>
      <vt:lpstr>Office Theme</vt:lpstr>
      <vt:lpstr>PowerPoint Presentation</vt:lpstr>
    </vt:vector>
  </TitlesOfParts>
  <Company>Genigraphics LLC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Genigraphics Research Poster Template 36x48</dc:title>
  <dc:creator>Jay Larson</dc:creator>
  <dc:description>Quality poster printing
www.genigraphics.com
1-800-790-4001</dc:description>
  <cp:lastModifiedBy>Hung, Cassandra</cp:lastModifiedBy>
  <cp:revision>1</cp:revision>
  <cp:lastPrinted>2013-02-12T02:21:55Z</cp:lastPrinted>
  <dcterms:created xsi:type="dcterms:W3CDTF">2013-02-10T21:14:48Z</dcterms:created>
  <dcterms:modified xsi:type="dcterms:W3CDTF">2024-07-26T14:13:46Z</dcterms:modified>
</cp:coreProperties>
</file>